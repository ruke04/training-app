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2" autoAdjust="0"/>
    <p:restoredTop sz="94672" autoAdjust="0"/>
  </p:normalViewPr>
  <p:slideViewPr>
    <p:cSldViewPr snapToGrid="0" snapToObjects="1">
      <p:cViewPr varScale="1">
        <p:scale>
          <a:sx n="218" d="100"/>
          <a:sy n="218" d="100"/>
        </p:scale>
        <p:origin x="58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api/api-doc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7324" y="859809"/>
            <a:ext cx="6760761" cy="1801504"/>
          </a:xfrm>
        </p:spPr>
        <p:txBody>
          <a:bodyPr anchor="b">
            <a:normAutofit/>
          </a:bodyPr>
          <a:lstStyle/>
          <a:p>
            <a:pPr marL="0" lvl="0" indent="0" algn="l">
              <a:buNone/>
            </a:pPr>
            <a:r>
              <a:rPr lang="en-US" sz="3600"/>
              <a:t>API Testing: A Complete Guide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3280915"/>
            <a:ext cx="9144005" cy="186258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3280915"/>
            <a:ext cx="3038508" cy="1862585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3284571"/>
            <a:ext cx="9143988" cy="1465446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3285695"/>
            <a:ext cx="9144000" cy="1514582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2E7863D-608A-0AFE-7FF1-85616DC4B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323" y="3669541"/>
            <a:ext cx="4790367" cy="808630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Using the Training App as Example</a:t>
            </a:r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What is API Testing?</a:t>
            </a:r>
          </a:p>
        </p:txBody>
      </p:sp>
      <p:sp>
        <p:nvSpPr>
          <p:cNvPr id="54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1500" b="1" dirty="0"/>
              <a:t>API = Application Programming Interface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- A set of protocols and tools for building software applications </a:t>
            </a:r>
          </a:p>
          <a:p>
            <a:pPr marL="0" indent="0">
              <a:buNone/>
            </a:pPr>
            <a:r>
              <a:rPr lang="en-US" sz="1500" dirty="0"/>
              <a:t>- Allows different software components to communicate </a:t>
            </a:r>
          </a:p>
          <a:p>
            <a:pPr marL="0" indent="0">
              <a:buNone/>
            </a:pPr>
            <a:r>
              <a:rPr lang="en-US" sz="1500" dirty="0"/>
              <a:t>- Acts as a contract between frontend and backend</a:t>
            </a:r>
          </a:p>
          <a:p>
            <a:pPr marL="0" indent="0">
              <a:buNone/>
            </a:pPr>
            <a:endParaRPr lang="en-US" sz="1500" dirty="0"/>
          </a:p>
          <a:p>
            <a:r>
              <a:rPr lang="en-US" sz="1500" b="1" dirty="0"/>
              <a:t>Why Test APIs?</a:t>
            </a:r>
            <a:r>
              <a:rPr lang="en-US" sz="1500" dirty="0"/>
              <a:t> </a:t>
            </a:r>
          </a:p>
          <a:p>
            <a:pPr marL="0" indent="0">
              <a:buNone/>
            </a:pPr>
            <a:r>
              <a:rPr lang="en-US" sz="1500" dirty="0"/>
              <a:t>- ✅ Verify functionality without UI </a:t>
            </a:r>
          </a:p>
          <a:p>
            <a:pPr marL="0" indent="0">
              <a:buNone/>
            </a:pPr>
            <a:r>
              <a:rPr lang="en-US" sz="1500" dirty="0"/>
              <a:t>- ✅ Faster than UI testing </a:t>
            </a:r>
          </a:p>
          <a:p>
            <a:pPr marL="0" indent="0">
              <a:buNone/>
            </a:pPr>
            <a:r>
              <a:rPr lang="en-US" sz="1500" dirty="0"/>
              <a:t>- ✅ Test edge cases and error handling </a:t>
            </a:r>
          </a:p>
          <a:p>
            <a:pPr marL="0" indent="0">
              <a:buNone/>
            </a:pPr>
            <a:r>
              <a:rPr lang="en-US" sz="1500" dirty="0"/>
              <a:t>- ✅ Ensure integration between services </a:t>
            </a:r>
          </a:p>
          <a:p>
            <a:pPr marL="0" indent="0">
              <a:buNone/>
            </a:pPr>
            <a:r>
              <a:rPr lang="en-US" sz="1500" dirty="0"/>
              <a:t>- ✅ Validate data formats and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Types of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>
              <a:lnSpc>
                <a:spcPct val="90000"/>
              </a:lnSpc>
              <a:spcBef>
                <a:spcPts val="3000"/>
              </a:spcBef>
              <a:buFont typeface="+mj-lt"/>
              <a:buAutoNum type="arabicPeriod"/>
            </a:pPr>
            <a:r>
              <a:rPr sz="1500" b="1" dirty="0"/>
              <a:t>REST (Representational State Transfer)</a:t>
            </a:r>
            <a:r>
              <a:rPr lang="en-US" sz="1500" b="1" dirty="0"/>
              <a:t>                                                                                                     </a:t>
            </a:r>
            <a:r>
              <a:rPr sz="1500" dirty="0"/>
              <a:t>Uses HTTP methods (GET, POST, PUT,</a:t>
            </a:r>
            <a:r>
              <a:rPr lang="en-US" sz="1500" dirty="0"/>
              <a:t> </a:t>
            </a:r>
            <a:r>
              <a:rPr sz="1500" dirty="0"/>
              <a:t>DELETE) - Stateless communication - JSON/XML data format - </a:t>
            </a:r>
            <a:r>
              <a:rPr sz="1500" b="1" dirty="0"/>
              <a:t>Example:</a:t>
            </a:r>
            <a:r>
              <a:rPr sz="1500" dirty="0"/>
              <a:t> Training App API</a:t>
            </a:r>
            <a:endParaRPr lang="en-US" sz="1500" dirty="0"/>
          </a:p>
          <a:p>
            <a:pPr lvl="0">
              <a:lnSpc>
                <a:spcPct val="90000"/>
              </a:lnSpc>
              <a:spcBef>
                <a:spcPts val="3000"/>
              </a:spcBef>
              <a:buFont typeface="+mj-lt"/>
              <a:buAutoNum type="arabicPeriod"/>
            </a:pPr>
            <a:r>
              <a:rPr sz="1500" b="1" dirty="0"/>
              <a:t>SOAP (Simple Object Access Protocol)</a:t>
            </a:r>
            <a:r>
              <a:rPr lang="en-US" sz="1500" b="1" dirty="0"/>
              <a:t>                                                                                                      </a:t>
            </a:r>
            <a:r>
              <a:rPr sz="1500" dirty="0"/>
              <a:t>XML-based protocol - More structured and formal - Built-in security features</a:t>
            </a:r>
            <a:endParaRPr lang="en-US" sz="1500" dirty="0"/>
          </a:p>
          <a:p>
            <a:pPr lvl="0">
              <a:lnSpc>
                <a:spcPct val="9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sz="1500" b="1" dirty="0" err="1"/>
              <a:t>GraphQL</a:t>
            </a:r>
            <a:r>
              <a:rPr sz="1500" dirty="0"/>
              <a:t> - Query language for APIs </a:t>
            </a:r>
            <a:r>
              <a:rPr lang="en-US" sz="1500" dirty="0"/>
              <a:t>                                                                              </a:t>
            </a:r>
            <a:r>
              <a:rPr sz="1500" dirty="0"/>
              <a:t>Clients request only needed data - Single endpoint for all operations</a:t>
            </a:r>
            <a:endParaRPr lang="en-US" sz="1500" dirty="0"/>
          </a:p>
          <a:p>
            <a:pPr lvl="0">
              <a:lnSpc>
                <a:spcPct val="9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sz="1500" b="1" dirty="0" err="1"/>
              <a:t>gRPC</a:t>
            </a:r>
            <a:endParaRPr lang="en-US" sz="1500" b="1" dirty="0"/>
          </a:p>
          <a:p>
            <a:pPr marL="0" lvl="0" indent="0">
              <a:lnSpc>
                <a:spcPct val="90000"/>
              </a:lnSpc>
              <a:buNone/>
            </a:pPr>
            <a:r>
              <a:rPr sz="1500" dirty="0"/>
              <a:t>High-performance RPC framework - Uses Protocol Buffers - Common in microservices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REST API Methods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9374" y="293124"/>
            <a:ext cx="2425189" cy="6552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 Methods Overview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212897"/>
              </p:ext>
            </p:extLst>
          </p:nvPr>
        </p:nvGraphicFramePr>
        <p:xfrm>
          <a:off x="324168" y="1630901"/>
          <a:ext cx="8495662" cy="3026756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2290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2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61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 cap="all" spc="6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 marL="191837" marR="191837" marT="191837" marB="19183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 cap="all" spc="6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91837" marR="191837" marT="191837" marB="19183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 cap="all" spc="6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91837" marR="191837" marT="191837" marB="19183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3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b="1" cap="none" spc="0" dirty="0">
                          <a:solidFill>
                            <a:schemeClr val="tx1"/>
                          </a:solidFill>
                        </a:rPr>
                        <a:t>GET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Retrieve data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Get user list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03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b="1" cap="none" spc="0" dirty="0">
                          <a:solidFill>
                            <a:schemeClr val="tx1"/>
                          </a:solidFill>
                        </a:rPr>
                        <a:t>POST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Create new resource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Register user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03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b="1" cap="none" spc="0" dirty="0">
                          <a:solidFill>
                            <a:schemeClr val="tx1"/>
                          </a:solidFill>
                        </a:rPr>
                        <a:t>PUT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Update resource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Change password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03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b="1" cap="none" spc="0" dirty="0">
                          <a:solidFill>
                            <a:schemeClr val="tx1"/>
                          </a:solidFill>
                        </a:rPr>
                        <a:t>DELETE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>
                          <a:solidFill>
                            <a:schemeClr val="tx1"/>
                          </a:solidFill>
                        </a:rPr>
                        <a:t>Remove resource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200" cap="none" spc="0" dirty="0">
                          <a:solidFill>
                            <a:schemeClr val="tx1"/>
                          </a:solidFill>
                        </a:rPr>
                        <a:t>Delete user</a:t>
                      </a:r>
                    </a:p>
                  </a:txBody>
                  <a:tcPr marL="127891" marR="127891" marT="63946" marB="1278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 dirty="0"/>
              <a:t>Training App Examples:</a:t>
            </a:r>
          </a:p>
          <a:p>
            <a:pPr lvl="0"/>
            <a:r>
              <a:rPr lang="en-US" sz="1500" dirty="0">
                <a:latin typeface="Courier"/>
              </a:rPr>
              <a:t>GET /</a:t>
            </a:r>
            <a:r>
              <a:rPr lang="en-US" sz="1500" dirty="0" err="1">
                <a:latin typeface="Courier"/>
              </a:rPr>
              <a:t>api</a:t>
            </a:r>
            <a:r>
              <a:rPr lang="en-US" sz="1500" dirty="0">
                <a:latin typeface="Courier"/>
              </a:rPr>
              <a:t>/users</a:t>
            </a:r>
            <a:r>
              <a:rPr lang="en-US" sz="1500" dirty="0"/>
              <a:t> - List all users</a:t>
            </a:r>
          </a:p>
          <a:p>
            <a:pPr lvl="0"/>
            <a:r>
              <a:rPr lang="en-US" sz="1500" dirty="0">
                <a:latin typeface="Courier"/>
              </a:rPr>
              <a:t>POST /</a:t>
            </a:r>
            <a:r>
              <a:rPr lang="en-US" sz="1500" dirty="0" err="1">
                <a:latin typeface="Courier"/>
              </a:rPr>
              <a:t>api</a:t>
            </a:r>
            <a:r>
              <a:rPr lang="en-US" sz="1500" dirty="0">
                <a:latin typeface="Courier"/>
              </a:rPr>
              <a:t>/register</a:t>
            </a:r>
            <a:r>
              <a:rPr lang="en-US" sz="1500" dirty="0"/>
              <a:t> - Create account</a:t>
            </a:r>
          </a:p>
          <a:p>
            <a:pPr lvl="0"/>
            <a:r>
              <a:rPr lang="en-US" sz="1500" dirty="0">
                <a:latin typeface="Courier"/>
              </a:rPr>
              <a:t>PUT /</a:t>
            </a:r>
            <a:r>
              <a:rPr lang="en-US" sz="1500" dirty="0" err="1">
                <a:latin typeface="Courier"/>
              </a:rPr>
              <a:t>api</a:t>
            </a:r>
            <a:r>
              <a:rPr lang="en-US" sz="1500" dirty="0">
                <a:latin typeface="Courier"/>
              </a:rPr>
              <a:t>/me/password</a:t>
            </a:r>
            <a:r>
              <a:rPr lang="en-US" sz="1500" dirty="0"/>
              <a:t> - Update password</a:t>
            </a:r>
          </a:p>
          <a:p>
            <a:pPr lvl="0"/>
            <a:r>
              <a:rPr lang="en-US" sz="1500" dirty="0">
                <a:latin typeface="Courier"/>
              </a:rPr>
              <a:t>DELETE /</a:t>
            </a:r>
            <a:r>
              <a:rPr lang="en-US" sz="1500" dirty="0" err="1">
                <a:latin typeface="Courier"/>
              </a:rPr>
              <a:t>api</a:t>
            </a:r>
            <a:r>
              <a:rPr lang="en-US" sz="1500" dirty="0">
                <a:latin typeface="Courier"/>
              </a:rPr>
              <a:t>/users/{username}</a:t>
            </a:r>
            <a:r>
              <a:rPr lang="en-US" sz="1500" dirty="0"/>
              <a:t> - Delete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API Testing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200" b="1" dirty="0"/>
              <a:t>Popular Tools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1200" b="1" dirty="0"/>
              <a:t>Postman</a:t>
            </a:r>
            <a:r>
              <a:rPr lang="en-US" sz="1200" dirty="0"/>
              <a:t> ⭐ (Most Popular)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GUI-based testing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Collection management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Environment variables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Automated testing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1200" b="1" dirty="0" err="1"/>
              <a:t>cURL</a:t>
            </a:r>
            <a:endParaRPr lang="en-US" sz="1200" b="1" dirty="0"/>
          </a:p>
          <a:p>
            <a:pPr lvl="1">
              <a:lnSpc>
                <a:spcPct val="90000"/>
              </a:lnSpc>
            </a:pPr>
            <a:r>
              <a:rPr lang="en-US" sz="1200" dirty="0"/>
              <a:t>Command-line tool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Available everywhere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Script-friendly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1200" b="1" dirty="0"/>
              <a:t>Insomnia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Clean interface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Similar to Postman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Open source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1200" b="1" dirty="0"/>
              <a:t>REST Assured</a:t>
            </a:r>
            <a:r>
              <a:rPr lang="en-US" sz="1200" dirty="0"/>
              <a:t> (Java)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Code-based testing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Integration with test frameworks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1200" b="1" dirty="0"/>
              <a:t>Robot Framework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Keyword-driven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API library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Introduction to Postman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/>
              <a:t>What is Postman?</a:t>
            </a:r>
          </a:p>
          <a:p>
            <a:pPr lvl="0"/>
            <a:r>
              <a:rPr lang="en-US" sz="1500" b="1"/>
              <a:t>GUI tool</a:t>
            </a:r>
            <a:r>
              <a:rPr lang="en-US" sz="1500"/>
              <a:t> for API testing</a:t>
            </a:r>
          </a:p>
          <a:p>
            <a:pPr lvl="0"/>
            <a:r>
              <a:rPr lang="en-US" sz="1500" b="1"/>
              <a:t>Collection</a:t>
            </a:r>
            <a:r>
              <a:rPr lang="en-US" sz="1500"/>
              <a:t> management</a:t>
            </a:r>
          </a:p>
          <a:p>
            <a:pPr lvl="0"/>
            <a:r>
              <a:rPr lang="en-US" sz="1500" b="1"/>
              <a:t>Environment</a:t>
            </a:r>
            <a:r>
              <a:rPr lang="en-US" sz="1500"/>
              <a:t> variables</a:t>
            </a:r>
          </a:p>
          <a:p>
            <a:pPr lvl="0"/>
            <a:r>
              <a:rPr lang="en-US" sz="1500" b="1"/>
              <a:t>Automated</a:t>
            </a:r>
            <a:r>
              <a:rPr lang="en-US" sz="1500"/>
              <a:t> test scripts</a:t>
            </a:r>
          </a:p>
          <a:p>
            <a:pPr lvl="0"/>
            <a:r>
              <a:rPr lang="en-US" sz="1500" b="1"/>
              <a:t>Documentation</a:t>
            </a:r>
            <a:r>
              <a:rPr lang="en-US" sz="1500"/>
              <a:t> generation</a:t>
            </a:r>
          </a:p>
          <a:p>
            <a:pPr lvl="0"/>
            <a:r>
              <a:rPr lang="en-US" sz="1500" b="1"/>
              <a:t>Mock servers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sz="1500" b="1"/>
              <a:t>Key Features:</a:t>
            </a:r>
          </a:p>
          <a:p>
            <a:pPr lvl="0"/>
            <a:r>
              <a:rPr lang="en-US" sz="1500"/>
              <a:t>✅ Easy request building</a:t>
            </a:r>
          </a:p>
          <a:p>
            <a:pPr lvl="0"/>
            <a:r>
              <a:rPr lang="en-US" sz="1500"/>
              <a:t>✅ Save and organize requests</a:t>
            </a:r>
          </a:p>
          <a:p>
            <a:pPr lvl="0"/>
            <a:r>
              <a:rPr lang="en-US" sz="1500"/>
              <a:t>✅ Share with team</a:t>
            </a:r>
          </a:p>
          <a:p>
            <a:pPr lvl="0"/>
            <a:r>
              <a:rPr lang="en-US" sz="1500"/>
              <a:t>✅ Write test assertions</a:t>
            </a:r>
          </a:p>
          <a:p>
            <a:pPr lvl="0"/>
            <a:r>
              <a:rPr lang="en-US" sz="1500"/>
              <a:t>✅ Generate code snippets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Postman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 indent="0">
              <a:lnSpc>
                <a:spcPct val="90000"/>
              </a:lnSpc>
              <a:buNone/>
            </a:pPr>
            <a:r>
              <a:rPr lang="en-US" sz="1200">
                <a:latin typeface="Courier"/>
              </a:rPr>
              <a:t>┌─────────────────────────────────────────┐
│  Postman                                │
├─────────────────────────────────────────┤
│  [Collections] [Environments] [History] │
├─────────────────────────────────────────┤
│  Method: [POST ▼]  URL: [____________] │
│  [Params] [Headers] [Body] [Tests]      │
├─────────────────────────────────────────┤
│  Body:                                  │
│  ○ none  ○ form-data  ○ x-www-form-url │
│  ● raw  ○ binary  ○ GraphQL             │
│  JSON ▼                                 │
│  {                                      │
│    "username": "testuser",              │
│    "password": "12345"                  │
│  }                                      │
├─────────────────────────────────────────┤
│  [Send]                                 │
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Testing Registration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500" b="1" dirty="0"/>
              <a:t>Training App: POST /</a:t>
            </a:r>
            <a:r>
              <a:rPr lang="en-US" sz="1500" b="1" dirty="0" err="1"/>
              <a:t>api</a:t>
            </a:r>
            <a:r>
              <a:rPr lang="en-US" sz="1500" b="1" dirty="0"/>
              <a:t>/register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Step 1: Setup Request</a:t>
            </a:r>
            <a:r>
              <a:rPr lang="en-US" sz="1500" dirty="0"/>
              <a:t> - Method: </a:t>
            </a:r>
            <a:r>
              <a:rPr lang="en-US" sz="1500" dirty="0">
                <a:latin typeface="Courier"/>
              </a:rPr>
              <a:t>POST</a:t>
            </a:r>
            <a:r>
              <a:rPr lang="en-US" sz="1500" dirty="0"/>
              <a:t> - URL: </a:t>
            </a:r>
            <a:r>
              <a:rPr lang="en-US" sz="1500" dirty="0">
                <a:latin typeface="Courier"/>
              </a:rPr>
              <a:t>http://localhost:8080/</a:t>
            </a:r>
            <a:r>
              <a:rPr lang="en-US" sz="1500" dirty="0" err="1">
                <a:latin typeface="Courier"/>
              </a:rPr>
              <a:t>api</a:t>
            </a:r>
            <a:r>
              <a:rPr lang="en-US" sz="1500" dirty="0">
                <a:latin typeface="Courier"/>
              </a:rPr>
              <a:t>/register</a:t>
            </a:r>
            <a:r>
              <a:rPr lang="en-US" sz="1500" dirty="0"/>
              <a:t> - Headers: </a:t>
            </a:r>
            <a:r>
              <a:rPr lang="en-US" sz="1500" dirty="0">
                <a:latin typeface="Courier"/>
              </a:rPr>
              <a:t>Content-Type: application/</a:t>
            </a:r>
            <a:r>
              <a:rPr lang="en-US" sz="1500" dirty="0" err="1">
                <a:latin typeface="Courier"/>
              </a:rPr>
              <a:t>json</a:t>
            </a:r>
            <a:endParaRPr lang="en-US" sz="1500" dirty="0">
              <a:latin typeface="Courier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Step 2: Request Body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500" dirty="0">
                <a:latin typeface="Courier"/>
              </a:rPr>
              <a:t>{</a:t>
            </a:r>
            <a:br>
              <a:rPr lang="en-US" sz="1500" dirty="0"/>
            </a:br>
            <a:r>
              <a:rPr lang="en-US" sz="1500" dirty="0">
                <a:latin typeface="Courier"/>
              </a:rPr>
              <a:t>  "username": "</a:t>
            </a:r>
            <a:r>
              <a:rPr lang="en-US" sz="1500" dirty="0" err="1">
                <a:latin typeface="Courier"/>
              </a:rPr>
              <a:t>john_doe</a:t>
            </a:r>
            <a:r>
              <a:rPr lang="en-US" sz="1500" dirty="0">
                <a:latin typeface="Courier"/>
              </a:rPr>
              <a:t>",</a:t>
            </a:r>
            <a:br>
              <a:rPr lang="en-US" sz="1500" dirty="0"/>
            </a:br>
            <a:r>
              <a:rPr lang="en-US" sz="1500" dirty="0">
                <a:latin typeface="Courier"/>
              </a:rPr>
              <a:t>  "password": "secure123"</a:t>
            </a:r>
            <a:br>
              <a:rPr lang="en-US" sz="1500" dirty="0"/>
            </a:br>
            <a:r>
              <a:rPr lang="en-US" sz="1500" dirty="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Step 3: Expected Response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500" dirty="0">
                <a:latin typeface="Courier"/>
              </a:rPr>
              <a:t>{</a:t>
            </a:r>
            <a:br>
              <a:rPr lang="en-US" sz="1500" dirty="0"/>
            </a:br>
            <a:r>
              <a:rPr lang="en-US" sz="1500" dirty="0">
                <a:latin typeface="Courier"/>
              </a:rPr>
              <a:t>  "token": "eyJhbGciOiJIUzI1NiIsInR5cCI6IkpXVCJ9..."</a:t>
            </a:r>
            <a:br>
              <a:rPr lang="en-US" sz="1500" dirty="0"/>
            </a:br>
            <a:r>
              <a:rPr lang="en-US" sz="1500" dirty="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dirty="0"/>
              <a:t>Status: </a:t>
            </a:r>
            <a:r>
              <a:rPr lang="en-US" sz="1500" dirty="0">
                <a:latin typeface="Courier"/>
              </a:rPr>
              <a:t>201 Created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Step 4: Test Error Case</a:t>
            </a:r>
            <a:r>
              <a:rPr lang="en-US" sz="1500" dirty="0"/>
              <a:t> Same request with existing username → </a:t>
            </a:r>
            <a:r>
              <a:rPr lang="en-US" sz="1500" dirty="0">
                <a:latin typeface="Courier"/>
              </a:rPr>
              <a:t>409 Conflict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Postman Screenshot: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 dirty="0"/>
              <a:t>Visual Guide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Request Tab: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100" dirty="0">
                <a:latin typeface="Courier"/>
              </a:rPr>
              <a:t>POST http://localhost:8080/</a:t>
            </a:r>
            <a:r>
              <a:rPr lang="en-US" sz="1100" dirty="0" err="1">
                <a:latin typeface="Courier"/>
              </a:rPr>
              <a:t>api</a:t>
            </a:r>
            <a:r>
              <a:rPr lang="en-US" sz="1100" dirty="0">
                <a:latin typeface="Courier"/>
              </a:rPr>
              <a:t>/register
Headers:
  Content-Type: application/</a:t>
            </a:r>
            <a:r>
              <a:rPr lang="en-US" sz="1100" dirty="0" err="1">
                <a:latin typeface="Courier"/>
              </a:rPr>
              <a:t>json</a:t>
            </a:r>
            <a:r>
              <a:rPr lang="en-US" sz="1100" dirty="0">
                <a:latin typeface="Courier"/>
              </a:rPr>
              <a:t>
Body (raw JSON):
{
  "username": "</a:t>
            </a:r>
            <a:r>
              <a:rPr lang="en-US" sz="1100" dirty="0" err="1">
                <a:latin typeface="Courier"/>
              </a:rPr>
              <a:t>alice</a:t>
            </a:r>
            <a:r>
              <a:rPr lang="en-US" sz="1100" dirty="0">
                <a:latin typeface="Courier"/>
              </a:rPr>
              <a:t>",
  "password": "password123"
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Response: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100" dirty="0">
                <a:latin typeface="Courier"/>
              </a:rPr>
              <a:t>Status: 201 Created
Time: 45ms
Size: 156 B
Body:
{
  "token": "eyJhbGciOiJIUzI1NiIs..."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Testing Login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300" b="1"/>
              <a:t>Training App: POST /api/login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Request: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POST http://localhost:8080/api/login
Content-Type: application/json
{
  "username": "john_doe",
  "password": "secure123"
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Success Response (200 OK):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{</a:t>
            </a:r>
            <a:br>
              <a:rPr lang="en-US" sz="1300"/>
            </a:br>
            <a:r>
              <a:rPr lang="en-US" sz="1300">
                <a:latin typeface="Courier"/>
              </a:rPr>
              <a:t>  "token": "eyJhbGciOiJIUzI1NiIs..."</a:t>
            </a:r>
            <a:br>
              <a:rPr lang="en-US" sz="1300"/>
            </a:br>
            <a:r>
              <a:rPr lang="en-US" sz="130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Error Response (401 Unauthorized):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{</a:t>
            </a:r>
            <a:br>
              <a:rPr lang="en-US" sz="1300"/>
            </a:br>
            <a:r>
              <a:rPr lang="en-US" sz="1300">
                <a:latin typeface="Courier"/>
              </a:rPr>
              <a:t>  "detail": "Invalid credentials"</a:t>
            </a:r>
            <a:br>
              <a:rPr lang="en-US" sz="1300"/>
            </a:br>
            <a:r>
              <a:rPr lang="en-US" sz="130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Postman Tips:</a:t>
            </a:r>
            <a:r>
              <a:rPr lang="en-US" sz="1300"/>
              <a:t> - Save token as environment variable - Use in subsequent 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Using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 dirty="0"/>
              <a:t>Postman Environments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/>
              <a:t>Create Environment:</a:t>
            </a:r>
            <a:r>
              <a:rPr lang="en-US" sz="1400" dirty="0"/>
              <a:t> </a:t>
            </a:r>
          </a:p>
          <a:p>
            <a:pPr marL="457200" lvl="0" indent="-457200">
              <a:lnSpc>
                <a:spcPct val="90000"/>
              </a:lnSpc>
              <a:buAutoNum type="arabicPeriod"/>
            </a:pPr>
            <a:r>
              <a:rPr lang="en-US" sz="1400" dirty="0"/>
              <a:t>Click “Environments” → “Add” </a:t>
            </a:r>
          </a:p>
          <a:p>
            <a:pPr marL="457200" lvl="0" indent="-457200">
              <a:lnSpc>
                <a:spcPct val="90000"/>
              </a:lnSpc>
              <a:buAutoNum type="arabicPeriod"/>
            </a:pPr>
            <a:r>
              <a:rPr lang="en-US" sz="1400" dirty="0"/>
              <a:t>2. Name: “Training App Local” </a:t>
            </a:r>
          </a:p>
          <a:p>
            <a:pPr marL="457200" lvl="0" indent="-457200">
              <a:lnSpc>
                <a:spcPct val="90000"/>
              </a:lnSpc>
              <a:buAutoNum type="arabicPeriod"/>
            </a:pPr>
            <a:r>
              <a:rPr lang="en-US" sz="1400" dirty="0"/>
              <a:t>3. Add variables: - </a:t>
            </a:r>
            <a:r>
              <a:rPr lang="en-US" sz="1400" dirty="0" err="1">
                <a:latin typeface="Courier"/>
              </a:rPr>
              <a:t>base_url</a:t>
            </a:r>
            <a:r>
              <a:rPr lang="en-US" sz="1400" dirty="0"/>
              <a:t>: </a:t>
            </a:r>
            <a:r>
              <a:rPr lang="en-US" sz="1400" dirty="0">
                <a:latin typeface="Courier"/>
              </a:rPr>
              <a:t>http://localhost:8080/</a:t>
            </a:r>
            <a:r>
              <a:rPr lang="en-US" sz="1400" dirty="0" err="1">
                <a:latin typeface="Courier"/>
              </a:rPr>
              <a:t>api</a:t>
            </a:r>
            <a:r>
              <a:rPr lang="en-US" sz="1400" dirty="0"/>
              <a:t> - </a:t>
            </a:r>
            <a:r>
              <a:rPr lang="en-US" sz="1400" dirty="0">
                <a:latin typeface="Courier"/>
              </a:rPr>
              <a:t>token</a:t>
            </a:r>
            <a:r>
              <a:rPr lang="en-US" sz="1400" dirty="0"/>
              <a:t>: (leave empty, will be set automatically)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/>
              <a:t>Use in Requests: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 dirty="0">
                <a:latin typeface="Courier"/>
              </a:rPr>
              <a:t>URL: {{</a:t>
            </a:r>
            <a:r>
              <a:rPr lang="en-US" sz="1400" dirty="0" err="1">
                <a:latin typeface="Courier"/>
              </a:rPr>
              <a:t>base_url</a:t>
            </a:r>
            <a:r>
              <a:rPr lang="en-US" sz="1400" dirty="0">
                <a:latin typeface="Courier"/>
              </a:rPr>
              <a:t>}}/register
Authorization: Bearer {{token}}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/>
              <a:t>Set Token Automatically:</a:t>
            </a:r>
            <a:r>
              <a:rPr lang="en-US" sz="1400" dirty="0"/>
              <a:t> In Tests tab: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 b="1" dirty="0">
                <a:latin typeface="Courier"/>
              </a:rPr>
              <a:t>if</a:t>
            </a:r>
            <a:r>
              <a:rPr lang="en-US" sz="1400" dirty="0">
                <a:latin typeface="Courier"/>
              </a:rPr>
              <a:t> (</a:t>
            </a:r>
            <a:r>
              <a:rPr lang="en-US" sz="1400" dirty="0" err="1">
                <a:latin typeface="Courier"/>
              </a:rPr>
              <a:t>pm.response.code</a:t>
            </a:r>
            <a:r>
              <a:rPr lang="en-US" sz="1400" dirty="0">
                <a:latin typeface="Courier"/>
              </a:rPr>
              <a:t> === 200 || </a:t>
            </a:r>
            <a:r>
              <a:rPr lang="en-US" sz="1400" dirty="0" err="1">
                <a:latin typeface="Courier"/>
              </a:rPr>
              <a:t>pm.response.code</a:t>
            </a:r>
            <a:r>
              <a:rPr lang="en-US" sz="1400" dirty="0">
                <a:latin typeface="Courier"/>
              </a:rPr>
              <a:t> === 201) {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latin typeface="Courier"/>
              </a:rPr>
              <a:t>const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jsonData</a:t>
            </a:r>
            <a:r>
              <a:rPr lang="en-US" sz="1400" dirty="0">
                <a:latin typeface="Courier"/>
              </a:rPr>
              <a:t> = </a:t>
            </a:r>
            <a:r>
              <a:rPr lang="en-US" sz="1400" dirty="0" err="1">
                <a:latin typeface="Courier"/>
              </a:rPr>
              <a:t>pm.response.json</a:t>
            </a:r>
            <a:r>
              <a:rPr lang="en-US" sz="1400" dirty="0">
                <a:latin typeface="Courier"/>
              </a:rPr>
              <a:t>();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latin typeface="Courier"/>
              </a:rPr>
              <a:t>if</a:t>
            </a:r>
            <a:r>
              <a:rPr lang="en-US" sz="1400" dirty="0">
                <a:latin typeface="Courier"/>
              </a:rPr>
              <a:t> (</a:t>
            </a:r>
            <a:r>
              <a:rPr lang="en-US" sz="1400" dirty="0" err="1">
                <a:latin typeface="Courier"/>
              </a:rPr>
              <a:t>jsonData.token</a:t>
            </a:r>
            <a:r>
              <a:rPr lang="en-US" sz="1400" dirty="0">
                <a:latin typeface="Courier"/>
              </a:rPr>
              <a:t>) {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</a:t>
            </a:r>
            <a:r>
              <a:rPr lang="en-US" sz="1400" dirty="0" err="1">
                <a:latin typeface="Courier"/>
              </a:rPr>
              <a:t>pm.environment.set</a:t>
            </a:r>
            <a:r>
              <a:rPr lang="en-US" sz="1400" dirty="0">
                <a:latin typeface="Courier"/>
              </a:rPr>
              <a:t>("token", </a:t>
            </a:r>
            <a:r>
              <a:rPr lang="en-US" sz="1400" dirty="0" err="1">
                <a:latin typeface="Courier"/>
              </a:rPr>
              <a:t>jsonData.token</a:t>
            </a:r>
            <a:r>
              <a:rPr lang="en-US" sz="1400" dirty="0">
                <a:latin typeface="Courier"/>
              </a:rPr>
              <a:t>);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}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Testing Protected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/>
              <a:t>Training App: GET /api/me</a:t>
            </a:r>
          </a:p>
          <a:p>
            <a:pPr marL="0" lvl="0" indent="0">
              <a:buNone/>
            </a:pPr>
            <a:r>
              <a:rPr lang="en-US" sz="1500" b="1"/>
              <a:t>Request Setup:</a:t>
            </a:r>
            <a:r>
              <a:rPr lang="en-US" sz="1500"/>
              <a:t> - Method: </a:t>
            </a:r>
            <a:r>
              <a:rPr lang="en-US" sz="1500">
                <a:latin typeface="Courier"/>
              </a:rPr>
              <a:t>GET</a:t>
            </a:r>
            <a:r>
              <a:rPr lang="en-US" sz="1500"/>
              <a:t> - URL: </a:t>
            </a:r>
            <a:r>
              <a:rPr lang="en-US" sz="1500">
                <a:latin typeface="Courier"/>
              </a:rPr>
              <a:t>{{base_url}}/me</a:t>
            </a:r>
            <a:r>
              <a:rPr lang="en-US" sz="1500"/>
              <a:t> - Authorization: </a:t>
            </a:r>
            <a:r>
              <a:rPr lang="en-US" sz="1500">
                <a:latin typeface="Courier"/>
              </a:rPr>
              <a:t>Bearer {{token}}</a:t>
            </a:r>
          </a:p>
          <a:p>
            <a:pPr marL="0" lvl="0" indent="0">
              <a:buNone/>
            </a:pPr>
            <a:r>
              <a:rPr lang="en-US" sz="1500" b="1"/>
              <a:t>Headers:</a:t>
            </a:r>
          </a:p>
          <a:p>
            <a:pPr lvl="0" indent="0">
              <a:buNone/>
            </a:pPr>
            <a:r>
              <a:rPr lang="en-US" sz="1500">
                <a:latin typeface="Courier"/>
              </a:rPr>
              <a:t>Authorization: Bearer {{token}}</a:t>
            </a:r>
          </a:p>
          <a:p>
            <a:pPr marL="0" lvl="0" indent="0">
              <a:buNone/>
            </a:pPr>
            <a:r>
              <a:rPr lang="en-US" sz="1500" b="1"/>
              <a:t>Success Response (200 OK):</a:t>
            </a:r>
          </a:p>
          <a:p>
            <a:pPr lvl="0" indent="0">
              <a:buNone/>
            </a:pPr>
            <a:r>
              <a:rPr lang="en-US" sz="1500">
                <a:latin typeface="Courier"/>
              </a:rPr>
              <a:t>{</a:t>
            </a:r>
            <a:br>
              <a:rPr lang="en-US" sz="1500"/>
            </a:br>
            <a:r>
              <a:rPr lang="en-US" sz="1500">
                <a:latin typeface="Courier"/>
              </a:rPr>
              <a:t>  "username": "john_doe"</a:t>
            </a:r>
            <a:br>
              <a:rPr lang="en-US" sz="1500"/>
            </a:br>
            <a:r>
              <a:rPr lang="en-US" sz="1500"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lang="en-US" sz="1500" b="1"/>
              <a:t>Error Response (401 Unauthorized):</a:t>
            </a:r>
          </a:p>
          <a:p>
            <a:pPr lvl="0" indent="0">
              <a:buNone/>
            </a:pPr>
            <a:r>
              <a:rPr lang="en-US" sz="1500">
                <a:latin typeface="Courier"/>
              </a:rPr>
              <a:t>{</a:t>
            </a:r>
            <a:br>
              <a:rPr lang="en-US" sz="1500"/>
            </a:br>
            <a:r>
              <a:rPr lang="en-US" sz="1500">
                <a:latin typeface="Courier"/>
              </a:rPr>
              <a:t>  "detail": "Not authenticated"</a:t>
            </a:r>
            <a:br>
              <a:rPr lang="en-US" sz="1500"/>
            </a:br>
            <a:r>
              <a:rPr lang="en-US" sz="1500"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lang="en-US" sz="1500" b="1"/>
              <a:t>Test Without Token:</a:t>
            </a:r>
            <a:r>
              <a:rPr lang="en-US" sz="1500"/>
              <a:t> Remove Authorization header → Should get 401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Testing User List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/>
              <a:t>Training App: GET /api/users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800" b="1"/>
              <a:t>Request: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800">
                <a:latin typeface="Courier"/>
              </a:rPr>
              <a:t>GET {{base_url}}/users
Authorization: Bearer {{token}}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800" b="1"/>
              <a:t>Success Response (200 OK):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800">
                <a:latin typeface="Courier"/>
              </a:rPr>
              <a:t>[</a:t>
            </a:r>
            <a:br>
              <a:rPr lang="en-US" sz="800"/>
            </a:br>
            <a:r>
              <a:rPr lang="en-US" sz="800">
                <a:latin typeface="Courier"/>
              </a:rPr>
              <a:t>  {</a:t>
            </a:r>
            <a:br>
              <a:rPr lang="en-US" sz="800"/>
            </a:br>
            <a:r>
              <a:rPr lang="en-US" sz="800">
                <a:latin typeface="Courier"/>
              </a:rPr>
              <a:t>    "id": 1,</a:t>
            </a:r>
            <a:br>
              <a:rPr lang="en-US" sz="800"/>
            </a:br>
            <a:r>
              <a:rPr lang="en-US" sz="800">
                <a:latin typeface="Courier"/>
              </a:rPr>
              <a:t>    "username": "john_doe",</a:t>
            </a:r>
            <a:br>
              <a:rPr lang="en-US" sz="800"/>
            </a:br>
            <a:r>
              <a:rPr lang="en-US" sz="800">
                <a:latin typeface="Courier"/>
              </a:rPr>
              <a:t>    "created_at": "2025-12-28T10:30:00"</a:t>
            </a:r>
            <a:br>
              <a:rPr lang="en-US" sz="800"/>
            </a:br>
            <a:r>
              <a:rPr lang="en-US" sz="800">
                <a:latin typeface="Courier"/>
              </a:rPr>
              <a:t>  },</a:t>
            </a:r>
            <a:br>
              <a:rPr lang="en-US" sz="800"/>
            </a:br>
            <a:r>
              <a:rPr lang="en-US" sz="800">
                <a:latin typeface="Courier"/>
              </a:rPr>
              <a:t>  {</a:t>
            </a:r>
            <a:br>
              <a:rPr lang="en-US" sz="800"/>
            </a:br>
            <a:r>
              <a:rPr lang="en-US" sz="800">
                <a:latin typeface="Courier"/>
              </a:rPr>
              <a:t>    "id": 2,</a:t>
            </a:r>
            <a:br>
              <a:rPr lang="en-US" sz="800"/>
            </a:br>
            <a:r>
              <a:rPr lang="en-US" sz="800">
                <a:latin typeface="Courier"/>
              </a:rPr>
              <a:t>    "username": "alice",</a:t>
            </a:r>
            <a:br>
              <a:rPr lang="en-US" sz="800"/>
            </a:br>
            <a:r>
              <a:rPr lang="en-US" sz="800">
                <a:latin typeface="Courier"/>
              </a:rPr>
              <a:t>    "created_at": "2025-12-28T11:15:00"</a:t>
            </a:r>
            <a:br>
              <a:rPr lang="en-US" sz="800"/>
            </a:br>
            <a:r>
              <a:rPr lang="en-US" sz="800">
                <a:latin typeface="Courier"/>
              </a:rPr>
              <a:t>  }</a:t>
            </a:r>
            <a:br>
              <a:rPr lang="en-US" sz="800"/>
            </a:br>
            <a:r>
              <a:rPr lang="en-US" sz="800">
                <a:latin typeface="Courier"/>
              </a:rPr>
              <a:t>]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800" b="1"/>
              <a:t>Postman Tests: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800">
                <a:latin typeface="Courier"/>
              </a:rPr>
              <a:t>pm.test("Status code is 200", </a:t>
            </a:r>
            <a:r>
              <a:rPr lang="en-US" sz="800" b="1">
                <a:latin typeface="Courier"/>
              </a:rPr>
              <a:t>function</a:t>
            </a:r>
            <a:r>
              <a:rPr lang="en-US" sz="800">
                <a:latin typeface="Courier"/>
              </a:rPr>
              <a:t> () {</a:t>
            </a:r>
            <a:br>
              <a:rPr lang="en-US" sz="800"/>
            </a:br>
            <a:r>
              <a:rPr lang="en-US" sz="800">
                <a:latin typeface="Courier"/>
              </a:rPr>
              <a:t>    pm.response.to.have.status(200);</a:t>
            </a:r>
            <a:br>
              <a:rPr lang="en-US" sz="800"/>
            </a:br>
            <a:r>
              <a:rPr lang="en-US" sz="800">
                <a:latin typeface="Courier"/>
              </a:rPr>
              <a:t>});</a:t>
            </a:r>
            <a:br>
              <a:rPr lang="en-US" sz="800"/>
            </a:br>
            <a:br>
              <a:rPr lang="en-US" sz="800"/>
            </a:br>
            <a:r>
              <a:rPr lang="en-US" sz="800">
                <a:latin typeface="Courier"/>
              </a:rPr>
              <a:t>pm.test("Response is array", </a:t>
            </a:r>
            <a:r>
              <a:rPr lang="en-US" sz="800" b="1">
                <a:latin typeface="Courier"/>
              </a:rPr>
              <a:t>function</a:t>
            </a:r>
            <a:r>
              <a:rPr lang="en-US" sz="800">
                <a:latin typeface="Courier"/>
              </a:rPr>
              <a:t> () {</a:t>
            </a:r>
            <a:br>
              <a:rPr lang="en-US" sz="800"/>
            </a:br>
            <a:r>
              <a:rPr lang="en-US" sz="800">
                <a:latin typeface="Courier"/>
              </a:rPr>
              <a:t>    </a:t>
            </a:r>
            <a:r>
              <a:rPr lang="en-US" sz="800" b="1">
                <a:latin typeface="Courier"/>
              </a:rPr>
              <a:t>const</a:t>
            </a:r>
            <a:r>
              <a:rPr lang="en-US" sz="800">
                <a:latin typeface="Courier"/>
              </a:rPr>
              <a:t> jsonData = pm.response.json();</a:t>
            </a:r>
            <a:br>
              <a:rPr lang="en-US" sz="800"/>
            </a:br>
            <a:r>
              <a:rPr lang="en-US" sz="800">
                <a:latin typeface="Courier"/>
              </a:rPr>
              <a:t>    pm.expect(jsonData).to.be.an('array');</a:t>
            </a:r>
            <a:br>
              <a:rPr lang="en-US" sz="800"/>
            </a:br>
            <a:r>
              <a:rPr lang="en-US" sz="800">
                <a:latin typeface="Courier"/>
              </a:rPr>
              <a:t>});</a:t>
            </a:r>
            <a:br>
              <a:rPr lang="en-US" sz="800"/>
            </a:br>
            <a:br>
              <a:rPr lang="en-US" sz="800"/>
            </a:br>
            <a:r>
              <a:rPr lang="en-US" sz="800">
                <a:latin typeface="Courier"/>
              </a:rPr>
              <a:t>pm.test("Users have required fields", </a:t>
            </a:r>
            <a:r>
              <a:rPr lang="en-US" sz="800" b="1">
                <a:latin typeface="Courier"/>
              </a:rPr>
              <a:t>function</a:t>
            </a:r>
            <a:r>
              <a:rPr lang="en-US" sz="800">
                <a:latin typeface="Courier"/>
              </a:rPr>
              <a:t> () {</a:t>
            </a:r>
            <a:br>
              <a:rPr lang="en-US" sz="800"/>
            </a:br>
            <a:r>
              <a:rPr lang="en-US" sz="800">
                <a:latin typeface="Courier"/>
              </a:rPr>
              <a:t>    </a:t>
            </a:r>
            <a:r>
              <a:rPr lang="en-US" sz="800" b="1">
                <a:latin typeface="Courier"/>
              </a:rPr>
              <a:t>const</a:t>
            </a:r>
            <a:r>
              <a:rPr lang="en-US" sz="800">
                <a:latin typeface="Courier"/>
              </a:rPr>
              <a:t> jsonData = pm.response.json();</a:t>
            </a:r>
            <a:br>
              <a:rPr lang="en-US" sz="800"/>
            </a:br>
            <a:r>
              <a:rPr lang="en-US" sz="800">
                <a:latin typeface="Courier"/>
              </a:rPr>
              <a:t>    jsonData.forEach(user </a:t>
            </a:r>
            <a:r>
              <a:rPr lang="en-US" sz="800" b="1">
                <a:latin typeface="Courier"/>
              </a:rPr>
              <a:t>=&gt;</a:t>
            </a:r>
            <a:r>
              <a:rPr lang="en-US" sz="800">
                <a:latin typeface="Courier"/>
              </a:rPr>
              <a:t> {</a:t>
            </a:r>
            <a:br>
              <a:rPr lang="en-US" sz="800"/>
            </a:br>
            <a:r>
              <a:rPr lang="en-US" sz="800">
                <a:latin typeface="Courier"/>
              </a:rPr>
              <a:t>        pm.expect(user).to.have.property('id');</a:t>
            </a:r>
            <a:br>
              <a:rPr lang="en-US" sz="800"/>
            </a:br>
            <a:r>
              <a:rPr lang="en-US" sz="800">
                <a:latin typeface="Courier"/>
              </a:rPr>
              <a:t>        pm.expect(user).to.have.property('username');</a:t>
            </a:r>
            <a:br>
              <a:rPr lang="en-US" sz="800"/>
            </a:br>
            <a:r>
              <a:rPr lang="en-US" sz="800">
                <a:latin typeface="Courier"/>
              </a:rPr>
              <a:t>    });</a:t>
            </a:r>
            <a:br>
              <a:rPr lang="en-US" sz="800"/>
            </a:br>
            <a:r>
              <a:rPr lang="en-US" sz="800">
                <a:latin typeface="Courier"/>
              </a:rPr>
              <a:t>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Testing DELETE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/>
              <a:t>Training App: DELETE /api/users/{username}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Request: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>
                <a:latin typeface="Courier"/>
              </a:rPr>
              <a:t>DELETE {{base_url}}/users/alice
Authorization: Bearer {{token}}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Success Response (200 OK):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>
                <a:latin typeface="Courier"/>
              </a:rPr>
              <a:t>{</a:t>
            </a:r>
            <a:br>
              <a:rPr lang="en-US" sz="1400"/>
            </a:br>
            <a:r>
              <a:rPr lang="en-US" sz="1400">
                <a:latin typeface="Courier"/>
              </a:rPr>
              <a:t>  "message": "User deleted successfully"</a:t>
            </a:r>
            <a:br>
              <a:rPr lang="en-US" sz="1400"/>
            </a:br>
            <a:r>
              <a:rPr lang="en-US" sz="140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Error Cases:</a:t>
            </a:r>
            <a:r>
              <a:rPr lang="en-US" sz="1400"/>
              <a:t> - </a:t>
            </a:r>
            <a:r>
              <a:rPr lang="en-US" sz="1400">
                <a:latin typeface="Courier"/>
              </a:rPr>
              <a:t>401 Unauthorized</a:t>
            </a:r>
            <a:r>
              <a:rPr lang="en-US" sz="1400"/>
              <a:t> - No/invalid token - </a:t>
            </a:r>
            <a:r>
              <a:rPr lang="en-US" sz="1400">
                <a:latin typeface="Courier"/>
              </a:rPr>
              <a:t>404 Not Found</a:t>
            </a:r>
            <a:r>
              <a:rPr lang="en-US" sz="1400"/>
              <a:t> - User doesn’t exist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Postman Test: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>
                <a:latin typeface="Courier"/>
              </a:rPr>
              <a:t>pm.test("User deleted successfully", </a:t>
            </a:r>
            <a:r>
              <a:rPr lang="en-US" sz="1400" b="1">
                <a:latin typeface="Courier"/>
              </a:rPr>
              <a:t>function</a:t>
            </a:r>
            <a:r>
              <a:rPr lang="en-US" sz="1400">
                <a:latin typeface="Courier"/>
              </a:rPr>
              <a:t> () {</a:t>
            </a:r>
            <a:br>
              <a:rPr lang="en-US" sz="1400"/>
            </a:br>
            <a:r>
              <a:rPr lang="en-US" sz="1400">
                <a:latin typeface="Courier"/>
              </a:rPr>
              <a:t>    pm.response.to.have.status(200);</a:t>
            </a:r>
            <a:br>
              <a:rPr lang="en-US" sz="1400"/>
            </a:br>
            <a:r>
              <a:rPr lang="en-US" sz="1400">
                <a:latin typeface="Courier"/>
              </a:rPr>
              <a:t>    </a:t>
            </a:r>
            <a:r>
              <a:rPr lang="en-US" sz="1400" b="1">
                <a:latin typeface="Courier"/>
              </a:rPr>
              <a:t>const</a:t>
            </a:r>
            <a:r>
              <a:rPr lang="en-US" sz="1400">
                <a:latin typeface="Courier"/>
              </a:rPr>
              <a:t> jsonData = pm.response.json();</a:t>
            </a:r>
            <a:br>
              <a:rPr lang="en-US" sz="1400"/>
            </a:br>
            <a:r>
              <a:rPr lang="en-US" sz="1400">
                <a:latin typeface="Courier"/>
              </a:rPr>
              <a:t>    pm.expect(jsonData.message).to.include("deleted");</a:t>
            </a:r>
            <a:br>
              <a:rPr lang="en-US" sz="1400"/>
            </a:br>
            <a:r>
              <a:rPr lang="en-US" sz="1400">
                <a:latin typeface="Courier"/>
              </a:rPr>
              <a:t>});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Testing Password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300" b="1"/>
              <a:t>Training App: PUT /api/me/password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Request: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PUT {{base_url}}/me/password
Authorization: Bearer {{token}}
Content-Type: application/json
{
  "current_password": "secure123",
  "new_password": "newsecure456"
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Success Response (200 OK):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{</a:t>
            </a:r>
            <a:br>
              <a:rPr lang="en-US" sz="1300"/>
            </a:br>
            <a:r>
              <a:rPr lang="en-US" sz="1300">
                <a:latin typeface="Courier"/>
              </a:rPr>
              <a:t>  "message": "Password updated successfully"</a:t>
            </a:r>
            <a:br>
              <a:rPr lang="en-US" sz="1300"/>
            </a:br>
            <a:r>
              <a:rPr lang="en-US" sz="130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Error Response (400 Bad Request):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{</a:t>
            </a:r>
            <a:br>
              <a:rPr lang="en-US" sz="1300"/>
            </a:br>
            <a:r>
              <a:rPr lang="en-US" sz="1300">
                <a:latin typeface="Courier"/>
              </a:rPr>
              <a:t>  "detail": "Current password is incorrect"</a:t>
            </a:r>
            <a:br>
              <a:rPr lang="en-US" sz="1300"/>
            </a:br>
            <a:r>
              <a:rPr lang="en-US" sz="1300"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Creating Postman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500" b="1"/>
              <a:t>Organize Your Tests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/>
              <a:t>Collection Structure: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500">
                <a:latin typeface="Courier"/>
              </a:rPr>
              <a:t>Training App API
├── Authentication
│   ├── Register User
│   ├── Login
│   └── Logout
├── User Management
│   ├── Get Current User
│   ├── List All Users
│   ├── Delete User
│   └── Change Password
└── Protected Site
    └── Access Protected Content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/>
              <a:t>Benefits:</a:t>
            </a:r>
            <a:r>
              <a:rPr lang="en-US" sz="1500"/>
              <a:t> - ✅ Organize related requests - ✅ Run entire collection - ✅ Share with team - ✅ Export/Import easily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Writing Postman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 dirty="0"/>
              <a:t>Automated Assertions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Basic Tests: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 dirty="0">
                <a:latin typeface="Courier"/>
              </a:rPr>
              <a:t>// Status code check</a:t>
            </a:r>
            <a:br>
              <a:rPr lang="en-US" sz="900" dirty="0"/>
            </a:br>
            <a:r>
              <a:rPr lang="en-US" sz="900" dirty="0" err="1">
                <a:latin typeface="Courier"/>
              </a:rPr>
              <a:t>pm.test</a:t>
            </a:r>
            <a:r>
              <a:rPr lang="en-US" sz="900" dirty="0">
                <a:latin typeface="Courier"/>
              </a:rPr>
              <a:t>("Status code is 200", </a:t>
            </a:r>
            <a:r>
              <a:rPr lang="en-US" sz="900" b="1" dirty="0">
                <a:latin typeface="Courier"/>
              </a:rPr>
              <a:t>function</a:t>
            </a:r>
            <a:r>
              <a:rPr lang="en-US" sz="900" dirty="0">
                <a:latin typeface="Courier"/>
              </a:rPr>
              <a:t> () {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dirty="0" err="1">
                <a:latin typeface="Courier"/>
              </a:rPr>
              <a:t>pm.response.to.have.status</a:t>
            </a:r>
            <a:r>
              <a:rPr lang="en-US" sz="900" dirty="0">
                <a:latin typeface="Courier"/>
              </a:rPr>
              <a:t>(200);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});</a:t>
            </a:r>
            <a:br>
              <a:rPr lang="en-US" sz="900" dirty="0"/>
            </a:br>
            <a:br>
              <a:rPr lang="en-US" sz="900" dirty="0"/>
            </a:br>
            <a:r>
              <a:rPr lang="en-US" sz="900" i="1" dirty="0">
                <a:latin typeface="Courier"/>
              </a:rPr>
              <a:t>// Response time check</a:t>
            </a:r>
            <a:br>
              <a:rPr lang="en-US" sz="900" dirty="0"/>
            </a:br>
            <a:r>
              <a:rPr lang="en-US" sz="900" dirty="0" err="1">
                <a:latin typeface="Courier"/>
              </a:rPr>
              <a:t>pm.test</a:t>
            </a:r>
            <a:r>
              <a:rPr lang="en-US" sz="900" dirty="0">
                <a:latin typeface="Courier"/>
              </a:rPr>
              <a:t>("Response time is less than 500ms", </a:t>
            </a:r>
            <a:r>
              <a:rPr lang="en-US" sz="900" b="1" dirty="0">
                <a:latin typeface="Courier"/>
              </a:rPr>
              <a:t>function</a:t>
            </a:r>
            <a:r>
              <a:rPr lang="en-US" sz="900" dirty="0">
                <a:latin typeface="Courier"/>
              </a:rPr>
              <a:t> () {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dirty="0" err="1">
                <a:latin typeface="Courier"/>
              </a:rPr>
              <a:t>pm.expect</a:t>
            </a:r>
            <a:r>
              <a:rPr lang="en-US" sz="900" dirty="0">
                <a:latin typeface="Courier"/>
              </a:rPr>
              <a:t>(</a:t>
            </a:r>
            <a:r>
              <a:rPr lang="en-US" sz="900" dirty="0" err="1">
                <a:latin typeface="Courier"/>
              </a:rPr>
              <a:t>pm.response.responseTime</a:t>
            </a:r>
            <a:r>
              <a:rPr lang="en-US" sz="900" dirty="0">
                <a:latin typeface="Courier"/>
              </a:rPr>
              <a:t>).</a:t>
            </a:r>
            <a:r>
              <a:rPr lang="en-US" sz="900" dirty="0" err="1">
                <a:latin typeface="Courier"/>
              </a:rPr>
              <a:t>to.be.below</a:t>
            </a:r>
            <a:r>
              <a:rPr lang="en-US" sz="900" dirty="0">
                <a:latin typeface="Courier"/>
              </a:rPr>
              <a:t>(500);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});</a:t>
            </a:r>
            <a:br>
              <a:rPr lang="en-US" sz="900" dirty="0"/>
            </a:br>
            <a:br>
              <a:rPr lang="en-US" sz="900" dirty="0"/>
            </a:br>
            <a:r>
              <a:rPr lang="en-US" sz="900" i="1" dirty="0">
                <a:latin typeface="Courier"/>
              </a:rPr>
              <a:t>// JSON structure validation</a:t>
            </a:r>
            <a:br>
              <a:rPr lang="en-US" sz="900" dirty="0"/>
            </a:br>
            <a:r>
              <a:rPr lang="en-US" sz="900" dirty="0" err="1">
                <a:latin typeface="Courier"/>
              </a:rPr>
              <a:t>pm.test</a:t>
            </a:r>
            <a:r>
              <a:rPr lang="en-US" sz="900" dirty="0">
                <a:latin typeface="Courier"/>
              </a:rPr>
              <a:t>("Response has token", </a:t>
            </a:r>
            <a:r>
              <a:rPr lang="en-US" sz="900" b="1" dirty="0">
                <a:latin typeface="Courier"/>
              </a:rPr>
              <a:t>function</a:t>
            </a:r>
            <a:r>
              <a:rPr lang="en-US" sz="900" dirty="0">
                <a:latin typeface="Courier"/>
              </a:rPr>
              <a:t> () {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b="1" dirty="0">
                <a:latin typeface="Courier"/>
              </a:rPr>
              <a:t>const</a:t>
            </a:r>
            <a:r>
              <a:rPr lang="en-US" sz="900" dirty="0">
                <a:latin typeface="Courier"/>
              </a:rPr>
              <a:t> </a:t>
            </a:r>
            <a:r>
              <a:rPr lang="en-US" sz="900" dirty="0" err="1">
                <a:latin typeface="Courier"/>
              </a:rPr>
              <a:t>jsonData</a:t>
            </a:r>
            <a:r>
              <a:rPr lang="en-US" sz="900" dirty="0">
                <a:latin typeface="Courier"/>
              </a:rPr>
              <a:t> = </a:t>
            </a:r>
            <a:r>
              <a:rPr lang="en-US" sz="900" dirty="0" err="1">
                <a:latin typeface="Courier"/>
              </a:rPr>
              <a:t>pm.response.json</a:t>
            </a:r>
            <a:r>
              <a:rPr lang="en-US" sz="900" dirty="0">
                <a:latin typeface="Courier"/>
              </a:rPr>
              <a:t>();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dirty="0" err="1">
                <a:latin typeface="Courier"/>
              </a:rPr>
              <a:t>pm.expect</a:t>
            </a:r>
            <a:r>
              <a:rPr lang="en-US" sz="900" dirty="0">
                <a:latin typeface="Courier"/>
              </a:rPr>
              <a:t>(</a:t>
            </a:r>
            <a:r>
              <a:rPr lang="en-US" sz="900" dirty="0" err="1">
                <a:latin typeface="Courier"/>
              </a:rPr>
              <a:t>jsonData</a:t>
            </a:r>
            <a:r>
              <a:rPr lang="en-US" sz="900" dirty="0">
                <a:latin typeface="Courier"/>
              </a:rPr>
              <a:t>).</a:t>
            </a:r>
            <a:r>
              <a:rPr lang="en-US" sz="900" dirty="0" err="1">
                <a:latin typeface="Courier"/>
              </a:rPr>
              <a:t>to.have.property</a:t>
            </a:r>
            <a:r>
              <a:rPr lang="en-US" sz="900" dirty="0">
                <a:latin typeface="Courier"/>
              </a:rPr>
              <a:t>('token');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Advanced Tests: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 dirty="0">
                <a:latin typeface="Courier"/>
              </a:rPr>
              <a:t>// Save token automatically</a:t>
            </a:r>
            <a:br>
              <a:rPr lang="en-US" sz="900" dirty="0"/>
            </a:br>
            <a:r>
              <a:rPr lang="en-US" sz="900" b="1" dirty="0">
                <a:latin typeface="Courier"/>
              </a:rPr>
              <a:t>if</a:t>
            </a:r>
            <a:r>
              <a:rPr lang="en-US" sz="900" dirty="0">
                <a:latin typeface="Courier"/>
              </a:rPr>
              <a:t> (</a:t>
            </a:r>
            <a:r>
              <a:rPr lang="en-US" sz="900" dirty="0" err="1">
                <a:latin typeface="Courier"/>
              </a:rPr>
              <a:t>pm.response.code</a:t>
            </a:r>
            <a:r>
              <a:rPr lang="en-US" sz="900" dirty="0">
                <a:latin typeface="Courier"/>
              </a:rPr>
              <a:t> === 201) {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b="1" dirty="0">
                <a:latin typeface="Courier"/>
              </a:rPr>
              <a:t>const</a:t>
            </a:r>
            <a:r>
              <a:rPr lang="en-US" sz="900" dirty="0">
                <a:latin typeface="Courier"/>
              </a:rPr>
              <a:t> </a:t>
            </a:r>
            <a:r>
              <a:rPr lang="en-US" sz="900" dirty="0" err="1">
                <a:latin typeface="Courier"/>
              </a:rPr>
              <a:t>jsonData</a:t>
            </a:r>
            <a:r>
              <a:rPr lang="en-US" sz="900" dirty="0">
                <a:latin typeface="Courier"/>
              </a:rPr>
              <a:t> = </a:t>
            </a:r>
            <a:r>
              <a:rPr lang="en-US" sz="900" dirty="0" err="1">
                <a:latin typeface="Courier"/>
              </a:rPr>
              <a:t>pm.response.json</a:t>
            </a:r>
            <a:r>
              <a:rPr lang="en-US" sz="900" dirty="0">
                <a:latin typeface="Courier"/>
              </a:rPr>
              <a:t>();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dirty="0" err="1">
                <a:latin typeface="Courier"/>
              </a:rPr>
              <a:t>pm.environment.set</a:t>
            </a:r>
            <a:r>
              <a:rPr lang="en-US" sz="900" dirty="0">
                <a:latin typeface="Courier"/>
              </a:rPr>
              <a:t>("token", </a:t>
            </a:r>
            <a:r>
              <a:rPr lang="en-US" sz="900" dirty="0" err="1">
                <a:latin typeface="Courier"/>
              </a:rPr>
              <a:t>jsonData.token</a:t>
            </a:r>
            <a:r>
              <a:rPr lang="en-US" sz="900" dirty="0">
                <a:latin typeface="Courier"/>
              </a:rPr>
              <a:t>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}</a:t>
            </a:r>
            <a:br>
              <a:rPr lang="en-US" sz="900" dirty="0"/>
            </a:br>
            <a:br>
              <a:rPr lang="en-US" sz="900" dirty="0"/>
            </a:br>
            <a:r>
              <a:rPr lang="en-US" sz="900" i="1" dirty="0">
                <a:latin typeface="Courier"/>
              </a:rPr>
              <a:t>// Validate token format (JWT)</a:t>
            </a:r>
            <a:br>
              <a:rPr lang="en-US" sz="900" dirty="0"/>
            </a:br>
            <a:r>
              <a:rPr lang="en-US" sz="900" dirty="0" err="1">
                <a:latin typeface="Courier"/>
              </a:rPr>
              <a:t>pm.test</a:t>
            </a:r>
            <a:r>
              <a:rPr lang="en-US" sz="900" dirty="0">
                <a:latin typeface="Courier"/>
              </a:rPr>
              <a:t>("Token is valid JWT", </a:t>
            </a:r>
            <a:r>
              <a:rPr lang="en-US" sz="900" b="1" dirty="0">
                <a:latin typeface="Courier"/>
              </a:rPr>
              <a:t>function</a:t>
            </a:r>
            <a:r>
              <a:rPr lang="en-US" sz="900" dirty="0">
                <a:latin typeface="Courier"/>
              </a:rPr>
              <a:t> () {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b="1" dirty="0">
                <a:latin typeface="Courier"/>
              </a:rPr>
              <a:t>const</a:t>
            </a:r>
            <a:r>
              <a:rPr lang="en-US" sz="900" dirty="0">
                <a:latin typeface="Courier"/>
              </a:rPr>
              <a:t> </a:t>
            </a:r>
            <a:r>
              <a:rPr lang="en-US" sz="900" dirty="0" err="1">
                <a:latin typeface="Courier"/>
              </a:rPr>
              <a:t>jsonData</a:t>
            </a:r>
            <a:r>
              <a:rPr lang="en-US" sz="900" dirty="0">
                <a:latin typeface="Courier"/>
              </a:rPr>
              <a:t> = </a:t>
            </a:r>
            <a:r>
              <a:rPr lang="en-US" sz="900" dirty="0" err="1">
                <a:latin typeface="Courier"/>
              </a:rPr>
              <a:t>pm.response.json</a:t>
            </a:r>
            <a:r>
              <a:rPr lang="en-US" sz="900" dirty="0">
                <a:latin typeface="Courier"/>
              </a:rPr>
              <a:t>();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b="1" dirty="0">
                <a:latin typeface="Courier"/>
              </a:rPr>
              <a:t>const</a:t>
            </a:r>
            <a:r>
              <a:rPr lang="en-US" sz="900" dirty="0">
                <a:latin typeface="Courier"/>
              </a:rPr>
              <a:t> token = </a:t>
            </a:r>
            <a:r>
              <a:rPr lang="en-US" sz="900" dirty="0" err="1">
                <a:latin typeface="Courier"/>
              </a:rPr>
              <a:t>jsonData.token</a:t>
            </a:r>
            <a:r>
              <a:rPr lang="en-US" sz="900" dirty="0">
                <a:latin typeface="Courier"/>
              </a:rPr>
              <a:t>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  </a:t>
            </a:r>
            <a:r>
              <a:rPr lang="en-US" sz="900" dirty="0" err="1">
                <a:latin typeface="Courier"/>
              </a:rPr>
              <a:t>pm.expect</a:t>
            </a:r>
            <a:r>
              <a:rPr lang="en-US" sz="900" dirty="0">
                <a:latin typeface="Courier"/>
              </a:rPr>
              <a:t>(token).</a:t>
            </a:r>
            <a:r>
              <a:rPr lang="en-US" sz="900" dirty="0" err="1">
                <a:latin typeface="Courier"/>
              </a:rPr>
              <a:t>to.match</a:t>
            </a:r>
            <a:r>
              <a:rPr lang="en-US" sz="900" dirty="0">
                <a:latin typeface="Courier"/>
              </a:rPr>
              <a:t>(/^[A-Za-z0-9-_]+\.[A-Za-z0-9-_]+\.[A-Za-z0-9-_]*$/);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});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Running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/>
              <a:t>Automated Test Execution</a:t>
            </a:r>
          </a:p>
          <a:p>
            <a:pPr marL="0" lvl="0" indent="0">
              <a:buNone/>
            </a:pPr>
            <a:r>
              <a:rPr lang="en-US" sz="1500" b="1"/>
              <a:t>Run Collection:</a:t>
            </a:r>
            <a:r>
              <a:rPr lang="en-US" sz="1500"/>
              <a:t> 1. Click on collection name 2. Click “Run” button 3. Select requests to run 4. Click “Run Training App API”</a:t>
            </a:r>
          </a:p>
          <a:p>
            <a:pPr marL="0" lvl="0" indent="0">
              <a:buNone/>
            </a:pPr>
            <a:r>
              <a:rPr lang="en-US" sz="1500" b="1"/>
              <a:t>View Results:</a:t>
            </a:r>
            <a:r>
              <a:rPr lang="en-US" sz="1500"/>
              <a:t> - ✅ Pass/Fail status - ⏱️ Response times - 📊 Test results summary</a:t>
            </a:r>
          </a:p>
          <a:p>
            <a:pPr marL="0" lvl="0" indent="0">
              <a:buNone/>
            </a:pPr>
            <a:r>
              <a:rPr lang="en-US" sz="1500" b="1"/>
              <a:t>Example Output:</a:t>
            </a:r>
          </a:p>
          <a:p>
            <a:pPr lvl="0" indent="0">
              <a:buNone/>
            </a:pPr>
            <a:r>
              <a:rPr lang="en-US" sz="1500">
                <a:latin typeface="Courier"/>
              </a:rPr>
              <a:t>✓ Register User (45ms)
✓ Login (32ms)
✓ Get Current User (28ms)
✓ List All Users (67ms)
✗ Delete User (401 Unauthorized)</a:t>
            </a:r>
          </a:p>
          <a:p>
            <a:pPr marL="0" lvl="0" indent="0">
              <a:buNone/>
            </a:pPr>
            <a:r>
              <a:rPr lang="en-US" sz="1500" b="1"/>
              <a:t>CI/CD Integration:</a:t>
            </a:r>
            <a:r>
              <a:rPr lang="en-US" sz="1500"/>
              <a:t> - Export collection as JSON - Run with Newman CLI - Integrate with Jenkins/GitHub Actions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Common API Testing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200" b="1" dirty="0"/>
              <a:t>What to Test?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/>
              <a:t>1. Happy Path</a:t>
            </a:r>
            <a:r>
              <a:rPr lang="en-US" sz="1200" dirty="0"/>
              <a:t> –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dirty="0"/>
              <a:t>✅ Valid request → Success response - Example: Register with valid data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2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/>
              <a:t>2. Error Handling</a:t>
            </a:r>
            <a:r>
              <a:rPr lang="en-US" sz="1200" dirty="0"/>
              <a:t> –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dirty="0"/>
              <a:t>✅ Invalid input → Error response - Example: Register with existing username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2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/>
              <a:t>3. Authentication</a:t>
            </a:r>
            <a:r>
              <a:rPr lang="en-US" sz="1200" dirty="0"/>
              <a:t> –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dirty="0"/>
              <a:t>✅ Missing token → 401 - ✅ Invalid token → 401 - ✅ Valid token → Success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2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/>
              <a:t>4. Data Validation</a:t>
            </a:r>
            <a:r>
              <a:rPr lang="en-US" sz="1200" dirty="0"/>
              <a:t> –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dirty="0"/>
              <a:t>✅ Required fields missing → 400 - ✅ Invalid data types → 400 - ✅ Boundary values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2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/>
              <a:t>5. Edge Cases</a:t>
            </a:r>
            <a:r>
              <a:rPr lang="en-US" sz="1200" dirty="0"/>
              <a:t> –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dirty="0"/>
              <a:t>✅ Empty strings - ✅ Very long strings - ✅ Special characters - ✅ SQL injection attempts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Training App: Complete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 dirty="0"/>
              <a:t>End-to-End API Testing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Step 1: Register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POST 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/register
{"username": "</a:t>
            </a:r>
            <a:r>
              <a:rPr lang="en-US" sz="900" dirty="0" err="1">
                <a:latin typeface="Courier"/>
              </a:rPr>
              <a:t>testuser</a:t>
            </a:r>
            <a:r>
              <a:rPr lang="en-US" sz="900" dirty="0">
                <a:latin typeface="Courier"/>
              </a:rPr>
              <a:t>", "password": "12345"}
→ Save token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Step 2: Login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POST 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/login
{"username": "</a:t>
            </a:r>
            <a:r>
              <a:rPr lang="en-US" sz="900" dirty="0" err="1">
                <a:latin typeface="Courier"/>
              </a:rPr>
              <a:t>testuser</a:t>
            </a:r>
            <a:r>
              <a:rPr lang="en-US" sz="900" dirty="0">
                <a:latin typeface="Courier"/>
              </a:rPr>
              <a:t>", "password": "12345"}
→ Verify token received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Step 3: Get Profile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GET 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/me
Authorization: Bearer {{token}}
→ Verify username matches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Step 4: List Users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GET 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/users
Authorization: Bearer {{token}}
→ Verify user appears in list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Step 5: Change Password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PUT 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/me/password
{"</a:t>
            </a:r>
            <a:r>
              <a:rPr lang="en-US" sz="900" dirty="0" err="1">
                <a:latin typeface="Courier"/>
              </a:rPr>
              <a:t>current_password</a:t>
            </a:r>
            <a:r>
              <a:rPr lang="en-US" sz="900" dirty="0">
                <a:latin typeface="Courier"/>
              </a:rPr>
              <a:t>": "12345", "</a:t>
            </a:r>
            <a:r>
              <a:rPr lang="en-US" sz="900" dirty="0" err="1">
                <a:latin typeface="Courier"/>
              </a:rPr>
              <a:t>new_password</a:t>
            </a:r>
            <a:r>
              <a:rPr lang="en-US" sz="900" dirty="0">
                <a:latin typeface="Courier"/>
              </a:rPr>
              <a:t>": "</a:t>
            </a:r>
            <a:r>
              <a:rPr lang="en-US" sz="900" dirty="0" err="1">
                <a:latin typeface="Courier"/>
              </a:rPr>
              <a:t>newpass</a:t>
            </a:r>
            <a:r>
              <a:rPr lang="en-US" sz="900" dirty="0">
                <a:latin typeface="Courier"/>
              </a:rPr>
              <a:t>"}
→ Verify success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Step 6: Delete Account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DELETE 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/me
Authorization: Bearer {{token}}
→ Verify deletion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514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59366"/>
            <a:ext cx="2174391" cy="32728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API Testing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059366"/>
            <a:ext cx="2570462" cy="3272883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-228600" defTabSz="914400">
              <a:lnSpc>
                <a:spcPct val="90000"/>
              </a:lnSpc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900" b="1"/>
              <a:t>Do’s ✅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 b="1"/>
              <a:t>Use Environment Variables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Base URLs, tokens, credentials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Easy to switch between environments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 b="1"/>
              <a:t>Write Assertions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Status codes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Response structure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Data validation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 b="1"/>
              <a:t>Organize Collections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Group related requests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Use folders and naming conventions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 b="1"/>
              <a:t>Document Requests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Add descriptions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Include examples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Note expected responses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 b="1"/>
              <a:t>Test Error Cases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Invalid inputs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Missing authentication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00"/>
              <a:t>Edge cases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059366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FAECA7-D1CF-CFAD-8B51-EBD0B746D365}"/>
              </a:ext>
            </a:extLst>
          </p:cNvPr>
          <p:cNvSpPr txBox="1"/>
          <p:nvPr/>
        </p:nvSpPr>
        <p:spPr>
          <a:xfrm>
            <a:off x="6338703" y="1059366"/>
            <a:ext cx="2398275" cy="3272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-228600" defTabSz="914400">
              <a:lnSpc>
                <a:spcPct val="90000"/>
              </a:lnSpc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500" b="1" dirty="0"/>
              <a:t>Don’ts ❌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Don’t hardcode values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Don’t skip error testing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Don’t ignore response times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Don’t test in production</a:t>
            </a:r>
          </a:p>
          <a:p>
            <a:pPr marL="342900"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Don’t forget to clean up test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Status Codes Reference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031" y="605118"/>
            <a:ext cx="2189804" cy="11205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 Status Codes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38076"/>
              </p:ext>
            </p:extLst>
          </p:nvPr>
        </p:nvGraphicFramePr>
        <p:xfrm>
          <a:off x="3376821" y="367952"/>
          <a:ext cx="5419312" cy="4407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21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Code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Meaning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Training App Examples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1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/>
                        <a:t>200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OK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Login success, Get user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3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/>
                        <a:t>201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Created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User registered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1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/>
                        <a:t>400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Bad Request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Invalid password format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1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 dirty="0"/>
                        <a:t>401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Unauthorized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Missing/invalid token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3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 dirty="0"/>
                        <a:t>404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/>
                        <a:t>Not Found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/>
                        <a:t>User doesn’t exist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1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/>
                        <a:t>409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/>
                        <a:t>Conflict</a:t>
                      </a:r>
                    </a:p>
                  </a:txBody>
                  <a:tcPr marL="96236" marR="96236" marT="48118" marB="481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/>
                        <a:t>Username already exists</a:t>
                      </a:r>
                    </a:p>
                  </a:txBody>
                  <a:tcPr marL="96236" marR="96236" marT="48118" marB="481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F1D61-ACBD-ACAD-D112-CCAF231DE012}"/>
              </a:ext>
            </a:extLst>
          </p:cNvPr>
          <p:cNvSpPr txBox="1"/>
          <p:nvPr/>
        </p:nvSpPr>
        <p:spPr>
          <a:xfrm>
            <a:off x="619797" y="440141"/>
            <a:ext cx="317257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Testing Status Codes: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pm.test</a:t>
            </a:r>
            <a:r>
              <a:rPr lang="en-US" sz="1500" dirty="0"/>
              <a:t>("Created successfully", </a:t>
            </a:r>
            <a:r>
              <a:rPr lang="en-US" sz="1500" b="1" dirty="0"/>
              <a:t>function</a:t>
            </a:r>
            <a:r>
              <a:rPr lang="en-US" sz="1500" dirty="0"/>
              <a:t> () {</a:t>
            </a:r>
            <a:br>
              <a:rPr lang="en-US" sz="1500" dirty="0"/>
            </a:br>
            <a:r>
              <a:rPr lang="en-US" sz="1500" dirty="0"/>
              <a:t>    </a:t>
            </a:r>
            <a:r>
              <a:rPr lang="en-US" sz="1500" dirty="0" err="1"/>
              <a:t>pm.response.to.have.status</a:t>
            </a:r>
            <a:r>
              <a:rPr lang="en-US" sz="1500" dirty="0"/>
              <a:t>(201);</a:t>
            </a:r>
            <a:br>
              <a:rPr lang="en-US" sz="1500" dirty="0"/>
            </a:br>
            <a:r>
              <a:rPr lang="en-US" sz="1500" dirty="0"/>
              <a:t>});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 err="1"/>
              <a:t>pm.test</a:t>
            </a:r>
            <a:r>
              <a:rPr lang="en-US" sz="1500" dirty="0"/>
              <a:t>("Unauthorized access", </a:t>
            </a:r>
            <a:r>
              <a:rPr lang="en-US" sz="1500" b="1" dirty="0"/>
              <a:t>function</a:t>
            </a:r>
            <a:r>
              <a:rPr lang="en-US" sz="1500" dirty="0"/>
              <a:t> () {</a:t>
            </a:r>
            <a:br>
              <a:rPr lang="en-US" sz="1500" dirty="0"/>
            </a:br>
            <a:r>
              <a:rPr lang="en-US" sz="1500" dirty="0"/>
              <a:t>    </a:t>
            </a:r>
            <a:r>
              <a:rPr lang="en-US" sz="1500" dirty="0" err="1"/>
              <a:t>pm.response.to.have.status</a:t>
            </a:r>
            <a:r>
              <a:rPr lang="en-US" sz="1500" dirty="0"/>
              <a:t>(401);</a:t>
            </a:r>
            <a:br>
              <a:rPr lang="en-US" sz="1500" dirty="0"/>
            </a:br>
            <a:r>
              <a:rPr lang="en-US" sz="1500" dirty="0"/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Postman vs cURL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 dirty="0"/>
              <a:t>Comparison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Postman:</a:t>
            </a:r>
            <a:r>
              <a:rPr lang="en-US" sz="9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Visual interface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Easy to use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Save and organize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Automated testing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Team collaboration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 err="1"/>
              <a:t>cURL</a:t>
            </a:r>
            <a:r>
              <a:rPr lang="en-US" sz="900" b="1" dirty="0"/>
              <a:t>:</a:t>
            </a:r>
            <a:r>
              <a:rPr lang="en-US" sz="9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Command-line tool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Script-friendly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Available everywhere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Lightweight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dirty="0"/>
              <a:t>✅ CI/CD integration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 dirty="0"/>
              <a:t>Example: Same Request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Postman: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POST http://localhost:8080/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/register
Body: {"username": "test", "password": "12345"}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 err="1"/>
              <a:t>cURL</a:t>
            </a:r>
            <a:r>
              <a:rPr lang="en-US" sz="900" b="1" dirty="0"/>
              <a:t>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dirty="0">
                <a:latin typeface="Courier"/>
              </a:rPr>
              <a:t>curl -X POST http://localhost:8080/</a:t>
            </a:r>
            <a:r>
              <a:rPr lang="en-US" sz="900" dirty="0" err="1">
                <a:latin typeface="Courier"/>
              </a:rPr>
              <a:t>api</a:t>
            </a:r>
            <a:r>
              <a:rPr lang="en-US" sz="900" dirty="0">
                <a:latin typeface="Courier"/>
              </a:rPr>
              <a:t>/register \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-H "Content-Type: application/</a:t>
            </a:r>
            <a:r>
              <a:rPr lang="en-US" sz="900" dirty="0" err="1">
                <a:latin typeface="Courier"/>
              </a:rPr>
              <a:t>json</a:t>
            </a:r>
            <a:r>
              <a:rPr lang="en-US" sz="900" dirty="0">
                <a:latin typeface="Courier"/>
              </a:rPr>
              <a:t>" \</a:t>
            </a:r>
            <a:br>
              <a:rPr lang="en-US" sz="900" dirty="0"/>
            </a:br>
            <a:r>
              <a:rPr lang="en-US" sz="900" dirty="0">
                <a:latin typeface="Courier"/>
              </a:rPr>
              <a:t>  -d '{"username":"test","password":"12345"}'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900" b="1" dirty="0"/>
              <a:t>Both are valid!</a:t>
            </a:r>
            <a:r>
              <a:rPr lang="en-US" sz="900" dirty="0"/>
              <a:t> Choose based on your needs.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API Testing with Training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 dirty="0"/>
              <a:t>Hands-On Exercise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/>
              <a:t>Setup:</a:t>
            </a:r>
            <a:r>
              <a:rPr lang="en-US" sz="14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1. Start Training App: </a:t>
            </a:r>
            <a:r>
              <a:rPr lang="en-US" sz="1400" dirty="0">
                <a:latin typeface="Courier"/>
              </a:rPr>
              <a:t>docker compose up -d</a:t>
            </a:r>
            <a:r>
              <a:rPr lang="en-US" sz="14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2. Open Postman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3. Create new collection: “Training App Tests”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4. Create environment: “Local”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4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/>
              <a:t>Tasks:</a:t>
            </a:r>
            <a:r>
              <a:rPr lang="en-US" sz="14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1. ✅ Register a new user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2. ✅ Login and save token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3. ✅ Get current user profile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4. ✅ List all users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5. ✅ Change password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dirty="0"/>
              <a:t>6. ✅ Delete account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4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/>
              <a:t>Bonus:</a:t>
            </a:r>
            <a:r>
              <a:rPr lang="en-US" sz="1400" dirty="0"/>
              <a:t> - Write test assertions - Create collection runner - Export collection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Advanced Postman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300" b="1"/>
              <a:t>Power Features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1. Pre-request Scripts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 i="1">
                <a:latin typeface="Courier"/>
              </a:rPr>
              <a:t>// Generate random username</a:t>
            </a:r>
            <a:br>
              <a:rPr lang="en-US" sz="1300"/>
            </a:br>
            <a:r>
              <a:rPr lang="en-US" sz="1300" b="1">
                <a:latin typeface="Courier"/>
              </a:rPr>
              <a:t>const</a:t>
            </a:r>
            <a:r>
              <a:rPr lang="en-US" sz="1300">
                <a:latin typeface="Courier"/>
              </a:rPr>
              <a:t> randomUsername = "user_" + Math.random().toString(36).substr(2, 9);</a:t>
            </a:r>
            <a:br>
              <a:rPr lang="en-US" sz="1300"/>
            </a:br>
            <a:r>
              <a:rPr lang="en-US" sz="1300">
                <a:latin typeface="Courier"/>
              </a:rPr>
              <a:t>pm.environment.set("random_username", randomUsername);</a:t>
            </a:r>
          </a:p>
          <a:p>
            <a:pPr lvl="0" indent="0">
              <a:lnSpc>
                <a:spcPct val="90000"/>
              </a:lnSpc>
              <a:buNone/>
            </a:pPr>
            <a:endParaRPr lang="en-US" sz="1300">
              <a:latin typeface="Courier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2. Collection Variables</a:t>
            </a:r>
            <a:r>
              <a:rPr lang="en-US" sz="1300"/>
              <a:t> - Set at collection level - Available to all requests - Override in environments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300"/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3. Mock Servers</a:t>
            </a:r>
            <a:r>
              <a:rPr lang="en-US" sz="1300"/>
              <a:t> - Create fake API responses - Test without backend - Share with frontend team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300"/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4. Documentation</a:t>
            </a:r>
            <a:r>
              <a:rPr lang="en-US" sz="1300"/>
              <a:t> - Auto-generate from requests - Add descriptions - Share with team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300"/>
          </a:p>
          <a:p>
            <a:pPr marL="0" lvl="0" indent="0">
              <a:lnSpc>
                <a:spcPct val="90000"/>
              </a:lnSpc>
              <a:buNone/>
            </a:pPr>
            <a:r>
              <a:rPr lang="en-US" sz="1300" b="1"/>
              <a:t>5. Newman CLI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300">
                <a:latin typeface="Courier"/>
              </a:rPr>
              <a:t>newman run collection.json -e environment.json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 dirty="0"/>
              <a:t>Key Takeaways</a:t>
            </a:r>
          </a:p>
          <a:p>
            <a:pPr marL="0" lvl="0" indent="0">
              <a:buNone/>
            </a:pPr>
            <a:r>
              <a:rPr lang="en-US" sz="1500" b="1" dirty="0"/>
              <a:t>API Testing:</a:t>
            </a:r>
            <a:r>
              <a:rPr lang="en-US" sz="1500" dirty="0"/>
              <a:t> - Tests the backend logic directly - Faster than UI testing - Essential for integration</a:t>
            </a:r>
          </a:p>
          <a:p>
            <a:pPr marL="0" lvl="0" indent="0">
              <a:buNone/>
            </a:pPr>
            <a:endParaRPr lang="en-US" sz="1500" dirty="0"/>
          </a:p>
          <a:p>
            <a:pPr marL="0" lvl="0" indent="0">
              <a:buNone/>
            </a:pPr>
            <a:r>
              <a:rPr lang="en-US" sz="1500" b="1" dirty="0"/>
              <a:t>Tools:</a:t>
            </a:r>
            <a:r>
              <a:rPr lang="en-US" sz="1500" dirty="0"/>
              <a:t> - Postman: Best for manual testing - </a:t>
            </a:r>
            <a:r>
              <a:rPr lang="en-US" sz="1500" dirty="0" err="1"/>
              <a:t>cURL</a:t>
            </a:r>
            <a:r>
              <a:rPr lang="en-US" sz="1500" dirty="0"/>
              <a:t>: Best for automation - Both have their place</a:t>
            </a:r>
          </a:p>
          <a:p>
            <a:pPr marL="0" lvl="0" indent="0">
              <a:buNone/>
            </a:pPr>
            <a:endParaRPr lang="en-US" sz="1500" dirty="0"/>
          </a:p>
          <a:p>
            <a:pPr marL="0" lvl="0" indent="0">
              <a:buNone/>
            </a:pPr>
            <a:r>
              <a:rPr lang="en-US" sz="1500" b="1" dirty="0"/>
              <a:t>Training App:</a:t>
            </a:r>
            <a:r>
              <a:rPr lang="en-US" sz="1500" dirty="0"/>
              <a:t> - REST API with JWT authentication - Perfect for learning API testing - Real-world examples</a:t>
            </a:r>
          </a:p>
          <a:p>
            <a:pPr marL="0" lvl="0" indent="0">
              <a:buNone/>
            </a:pPr>
            <a:endParaRPr lang="en-US" sz="1500" dirty="0"/>
          </a:p>
          <a:p>
            <a:pPr marL="0" lvl="0" indent="0">
              <a:buNone/>
            </a:pPr>
            <a:r>
              <a:rPr lang="en-US" sz="1500" b="1" dirty="0"/>
              <a:t>Next Steps:</a:t>
            </a:r>
            <a:r>
              <a:rPr lang="en-US" sz="1500" dirty="0"/>
              <a:t> </a:t>
            </a:r>
          </a:p>
          <a:p>
            <a:pPr marL="0" lvl="0" indent="0">
              <a:buNone/>
            </a:pPr>
            <a:r>
              <a:rPr lang="en-US" sz="1500" dirty="0"/>
              <a:t>1. Practice with Training App </a:t>
            </a:r>
          </a:p>
          <a:p>
            <a:pPr marL="0" lvl="0" indent="0">
              <a:buNone/>
            </a:pPr>
            <a:r>
              <a:rPr lang="en-US" sz="1500" dirty="0"/>
              <a:t>2. Create your own collections </a:t>
            </a:r>
          </a:p>
          <a:p>
            <a:pPr marL="0" lvl="0" indent="0">
              <a:buNone/>
            </a:pPr>
            <a:r>
              <a:rPr lang="en-US" sz="1500" dirty="0"/>
              <a:t>3. Write test assertions </a:t>
            </a:r>
          </a:p>
          <a:p>
            <a:pPr marL="0" lvl="0" indent="0">
              <a:buNone/>
            </a:pPr>
            <a:r>
              <a:rPr lang="en-US" sz="1500" dirty="0"/>
              <a:t>4. Integrate with CI/CD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Resources &amp;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 dirty="0"/>
              <a:t>Learning Resources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Documentation:</a:t>
            </a:r>
            <a:r>
              <a:rPr lang="en-US" sz="11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Postman Learning Center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REST API Tutorial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HTTP Status Codes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1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Training App:</a:t>
            </a:r>
            <a:r>
              <a:rPr lang="en-US" sz="11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Base URL: </a:t>
            </a:r>
            <a:r>
              <a:rPr lang="en-US" sz="1100" dirty="0">
                <a:latin typeface="Courier"/>
              </a:rPr>
              <a:t>http://localhost:8080/</a:t>
            </a:r>
            <a:r>
              <a:rPr lang="en-US" sz="1100" dirty="0" err="1">
                <a:latin typeface="Courier"/>
              </a:rPr>
              <a:t>api</a:t>
            </a:r>
            <a:r>
              <a:rPr lang="en-US" sz="11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Swagger UI: </a:t>
            </a:r>
            <a:r>
              <a:rPr lang="en-US" sz="1100" dirty="0">
                <a:latin typeface="Courier"/>
              </a:rPr>
              <a:t>http://localhost:8080/</a:t>
            </a:r>
            <a:r>
              <a:rPr lang="en-US" sz="1100" dirty="0" err="1">
                <a:latin typeface="Courier"/>
              </a:rPr>
              <a:t>api</a:t>
            </a:r>
            <a:r>
              <a:rPr lang="en-US" sz="1100" dirty="0">
                <a:latin typeface="Courier"/>
              </a:rPr>
              <a:t>/</a:t>
            </a:r>
            <a:r>
              <a:rPr lang="en-US" sz="1100" dirty="0" err="1">
                <a:latin typeface="Courier"/>
              </a:rPr>
              <a:t>api</a:t>
            </a:r>
            <a:r>
              <a:rPr lang="en-US" sz="1100" dirty="0">
                <a:latin typeface="Courier"/>
              </a:rPr>
              <a:t>-docs</a:t>
            </a:r>
            <a:r>
              <a:rPr lang="en-US" sz="11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API Docs: See </a:t>
            </a:r>
            <a:r>
              <a:rPr lang="en-US" sz="1100" dirty="0" err="1">
                <a:latin typeface="Courier"/>
              </a:rPr>
              <a:t>API.md</a:t>
            </a:r>
            <a:endParaRPr lang="en-US" sz="1100" dirty="0">
              <a:latin typeface="Courier"/>
            </a:endParaRPr>
          </a:p>
          <a:p>
            <a:pPr marL="0" lvl="0" indent="0">
              <a:lnSpc>
                <a:spcPct val="90000"/>
              </a:lnSpc>
              <a:buNone/>
            </a:pPr>
            <a:endParaRPr lang="en-US" sz="1100" dirty="0">
              <a:latin typeface="Courier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Practice Endpoints:</a:t>
            </a:r>
            <a:r>
              <a:rPr lang="en-US" sz="1100" dirty="0"/>
              <a:t>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</a:t>
            </a:r>
            <a:r>
              <a:rPr lang="en-US" sz="1100" dirty="0">
                <a:latin typeface="Courier"/>
              </a:rPr>
              <a:t>/register</a:t>
            </a:r>
            <a:r>
              <a:rPr lang="en-US" sz="1100" dirty="0"/>
              <a:t> - Create account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</a:t>
            </a:r>
            <a:r>
              <a:rPr lang="en-US" sz="1100" dirty="0">
                <a:latin typeface="Courier"/>
              </a:rPr>
              <a:t>/login</a:t>
            </a:r>
            <a:r>
              <a:rPr lang="en-US" sz="1100" dirty="0"/>
              <a:t> - Authenticate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</a:t>
            </a:r>
            <a:r>
              <a:rPr lang="en-US" sz="1100" dirty="0">
                <a:latin typeface="Courier"/>
              </a:rPr>
              <a:t>/me</a:t>
            </a:r>
            <a:r>
              <a:rPr lang="en-US" sz="1100" dirty="0"/>
              <a:t> - Get profile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</a:t>
            </a:r>
            <a:r>
              <a:rPr lang="en-US" sz="1100" dirty="0">
                <a:latin typeface="Courier"/>
              </a:rPr>
              <a:t>/users</a:t>
            </a:r>
            <a:r>
              <a:rPr lang="en-US" sz="1100" dirty="0"/>
              <a:t> - List users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</a:t>
            </a:r>
            <a:r>
              <a:rPr lang="en-US" sz="1100" dirty="0">
                <a:latin typeface="Courier"/>
              </a:rPr>
              <a:t>/me/password</a:t>
            </a:r>
            <a:r>
              <a:rPr lang="en-US" sz="1100" dirty="0"/>
              <a:t> - Change password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- </a:t>
            </a:r>
            <a:r>
              <a:rPr lang="en-US" sz="1100" dirty="0">
                <a:latin typeface="Courier"/>
              </a:rPr>
              <a:t>/users/{username}</a:t>
            </a:r>
            <a:r>
              <a:rPr lang="en-US" sz="1100" dirty="0"/>
              <a:t> - Delete user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1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Try It Now!</a:t>
            </a:r>
            <a:r>
              <a:rPr lang="en-US" sz="1100" dirty="0"/>
              <a:t> 1. Start the app 2. Open Postman 3. Test the endpoints 4. Write assertions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500" b="1" dirty="0"/>
              <a:t>Questions?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Common Questions: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Q: Why test APIs instead of UI?</a:t>
            </a:r>
            <a:r>
              <a:rPr lang="en-US" sz="1500" dirty="0"/>
              <a:t> A: Faster, more reliable, catches bugs earlier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5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Q: Can I automate API tests?</a:t>
            </a:r>
            <a:r>
              <a:rPr lang="en-US" sz="1500" dirty="0"/>
              <a:t> A: Yes! Use Postman collections with Newman or Robot Framework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5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Q: How do I handle authentication?</a:t>
            </a:r>
            <a:r>
              <a:rPr lang="en-US" sz="1500" dirty="0"/>
              <a:t> A: Use environment variables to store tokens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5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Q: What about testing in CI/CD?</a:t>
            </a:r>
            <a:r>
              <a:rPr lang="en-US" sz="1500" dirty="0"/>
              <a:t> A: Use Newman CLI or Robot Framework in Jenkins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500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 dirty="0"/>
              <a:t>Q: How do I test error cases?</a:t>
            </a:r>
            <a:r>
              <a:rPr lang="en-US" sz="1500" dirty="0"/>
              <a:t> A: Send invalid data and verify error responses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 dirty="0"/>
              <a:t>Happy Testing! 🚀</a:t>
            </a:r>
          </a:p>
          <a:p>
            <a:pPr marL="0" lvl="0" indent="0">
              <a:buNone/>
            </a:pPr>
            <a:r>
              <a:rPr lang="en-US" sz="1500" b="1" dirty="0"/>
              <a:t>Contact:</a:t>
            </a:r>
            <a:r>
              <a:rPr lang="en-US" sz="1500" dirty="0"/>
              <a:t> - Training App Repository - API Documentation: </a:t>
            </a:r>
            <a:r>
              <a:rPr lang="en-US" sz="1500" dirty="0" err="1">
                <a:latin typeface="Courier"/>
              </a:rPr>
              <a:t>API.md</a:t>
            </a:r>
            <a:r>
              <a:rPr lang="en-US" sz="1500" dirty="0"/>
              <a:t> - Swagger UI: </a:t>
            </a:r>
            <a:r>
              <a:rPr lang="en-US" sz="1500" dirty="0">
                <a:latin typeface="Courier"/>
                <a:hlinkClick r:id="rId2"/>
              </a:rPr>
              <a:t>http://localhost:8080/api/api-docs</a:t>
            </a:r>
            <a:endParaRPr lang="en-US" sz="1500" dirty="0">
              <a:latin typeface="Courier"/>
            </a:endParaRPr>
          </a:p>
          <a:p>
            <a:pPr marL="0" lvl="0" indent="0">
              <a:buNone/>
            </a:pPr>
            <a:endParaRPr lang="en-US" sz="1500" dirty="0">
              <a:latin typeface="Courier"/>
            </a:endParaRPr>
          </a:p>
          <a:p>
            <a:pPr marL="0" lvl="0" indent="0">
              <a:buNone/>
            </a:pPr>
            <a:r>
              <a:rPr lang="en-US" sz="1500" b="1" dirty="0"/>
              <a:t>Remember:</a:t>
            </a:r>
            <a:r>
              <a:rPr lang="en-US" sz="1500" dirty="0"/>
              <a:t> </a:t>
            </a:r>
          </a:p>
          <a:p>
            <a:pPr marL="0" lvl="0" indent="0">
              <a:buNone/>
            </a:pPr>
            <a:r>
              <a:rPr lang="en-US" sz="1500" dirty="0"/>
              <a:t>- ✅ Test happy paths </a:t>
            </a:r>
          </a:p>
          <a:p>
            <a:pPr marL="0" lvl="0" indent="0">
              <a:buNone/>
            </a:pPr>
            <a:r>
              <a:rPr lang="en-US" sz="1500" dirty="0"/>
              <a:t>- ✅ Test error cases </a:t>
            </a:r>
          </a:p>
          <a:p>
            <a:pPr marL="0" lvl="0" indent="0">
              <a:buNone/>
            </a:pPr>
            <a:r>
              <a:rPr lang="en-US" sz="1500" dirty="0"/>
              <a:t>- ✅ Use environment variables </a:t>
            </a:r>
          </a:p>
          <a:p>
            <a:pPr marL="0" lvl="0" indent="0">
              <a:buNone/>
            </a:pPr>
            <a:r>
              <a:rPr lang="en-US" sz="1500" dirty="0"/>
              <a:t>- ✅ Write assertions </a:t>
            </a:r>
          </a:p>
          <a:p>
            <a:pPr marL="0" lvl="0" indent="0">
              <a:buNone/>
            </a:pPr>
            <a:r>
              <a:rPr lang="en-US" sz="1500" dirty="0"/>
              <a:t>- ✅ Organize collections</a:t>
            </a:r>
          </a:p>
          <a:p>
            <a:pPr marL="0" lvl="0" indent="0">
              <a:buNone/>
            </a:pPr>
            <a:endParaRPr lang="en-US" sz="1500" dirty="0"/>
          </a:p>
          <a:p>
            <a:pPr marL="0" lvl="0" indent="0">
              <a:buNone/>
            </a:pPr>
            <a:r>
              <a:rPr lang="en-US" sz="1500" b="1" dirty="0"/>
              <a:t>Practice makes perfect!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Appendix: Quick Reference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031" y="605118"/>
            <a:ext cx="2189804" cy="11205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Training App API Endpoints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259592"/>
              </p:ext>
            </p:extLst>
          </p:nvPr>
        </p:nvGraphicFramePr>
        <p:xfrm>
          <a:off x="3376821" y="767884"/>
          <a:ext cx="5419313" cy="360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31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Method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Endpoint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Auth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Description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6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POST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/api/register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Create account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1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POST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/api/login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Authenticate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1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GET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/api/me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Yes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Get profile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1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GET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/api/users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Yes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List users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6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PUT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/api/me/password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Yes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Change password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6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DELETE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/api/users/{username}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Yes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Delete user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6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DELETE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>
                          <a:latin typeface="Courier"/>
                        </a:rPr>
                        <a:t>/api/me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Yes</a:t>
                      </a:r>
                    </a:p>
                  </a:txBody>
                  <a:tcPr marL="76435" marR="76435" marT="38218" marB="3821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/>
                        <a:t>Delete own account</a:t>
                      </a:r>
                    </a:p>
                  </a:txBody>
                  <a:tcPr marL="76435" marR="76435" marT="38218" marB="382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3113</Words>
  <Application>Microsoft Macintosh PowerPoint</Application>
  <PresentationFormat>On-screen Show (16:9)</PresentationFormat>
  <Paragraphs>389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</vt:lpstr>
      <vt:lpstr>Office Theme</vt:lpstr>
      <vt:lpstr>API Testing: A Complete Guide</vt:lpstr>
      <vt:lpstr>What is API Testing?</vt:lpstr>
      <vt:lpstr>Types of APIs</vt:lpstr>
      <vt:lpstr>REST API Methods</vt:lpstr>
      <vt:lpstr>PowerPoint Presentation</vt:lpstr>
      <vt:lpstr>API Testing Tools</vt:lpstr>
      <vt:lpstr>Introduction to Postman</vt:lpstr>
      <vt:lpstr>Postman Interface Overview</vt:lpstr>
      <vt:lpstr>Testing Registration Endpoint</vt:lpstr>
      <vt:lpstr>Postman Screenshot: Registration</vt:lpstr>
      <vt:lpstr>Testing Login Endpoint</vt:lpstr>
      <vt:lpstr>Using Environment Variables</vt:lpstr>
      <vt:lpstr>Testing Protected Endpoints</vt:lpstr>
      <vt:lpstr>Testing User List Endpoint</vt:lpstr>
      <vt:lpstr>Testing DELETE Endpoint</vt:lpstr>
      <vt:lpstr>Testing Password Change</vt:lpstr>
      <vt:lpstr>Creating Postman Collections</vt:lpstr>
      <vt:lpstr>Writing Postman Tests</vt:lpstr>
      <vt:lpstr>Running Collections</vt:lpstr>
      <vt:lpstr>Common API Testing Scenarios</vt:lpstr>
      <vt:lpstr>Training App: Complete Test Flow</vt:lpstr>
      <vt:lpstr>API Testing Best Practices</vt:lpstr>
      <vt:lpstr>Status Codes Reference</vt:lpstr>
      <vt:lpstr>PowerPoint Presentation</vt:lpstr>
      <vt:lpstr>Postman vs cURL</vt:lpstr>
      <vt:lpstr>API Testing with Training App</vt:lpstr>
      <vt:lpstr>Advanced Postman Features</vt:lpstr>
      <vt:lpstr>Summary</vt:lpstr>
      <vt:lpstr>Resources &amp; Practice</vt:lpstr>
      <vt:lpstr>Q&amp;A</vt:lpstr>
      <vt:lpstr>Thank You!</vt:lpstr>
      <vt:lpstr>Appendix: Quick Reference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Omoghomion Oredia</cp:lastModifiedBy>
  <cp:revision>2</cp:revision>
  <dcterms:created xsi:type="dcterms:W3CDTF">2026-01-03T13:07:47Z</dcterms:created>
  <dcterms:modified xsi:type="dcterms:W3CDTF">2026-01-03T16:18:06Z</dcterms:modified>
</cp:coreProperties>
</file>